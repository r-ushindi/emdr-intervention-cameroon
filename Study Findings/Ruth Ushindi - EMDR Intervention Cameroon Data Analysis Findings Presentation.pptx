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57" r:id="rId1"/>
  </p:sldMasterIdLst>
  <p:notesMasterIdLst>
    <p:notesMasterId r:id="rId51"/>
  </p:notesMasterIdLst>
  <p:sldIdLst>
    <p:sldId id="256" r:id="rId2"/>
    <p:sldId id="272" r:id="rId3"/>
    <p:sldId id="298" r:id="rId4"/>
    <p:sldId id="317" r:id="rId5"/>
    <p:sldId id="316" r:id="rId6"/>
    <p:sldId id="259" r:id="rId7"/>
    <p:sldId id="339" r:id="rId8"/>
    <p:sldId id="323" r:id="rId9"/>
    <p:sldId id="324" r:id="rId10"/>
    <p:sldId id="340" r:id="rId11"/>
    <p:sldId id="325" r:id="rId12"/>
    <p:sldId id="326" r:id="rId13"/>
    <p:sldId id="341" r:id="rId14"/>
    <p:sldId id="327" r:id="rId15"/>
    <p:sldId id="352" r:id="rId16"/>
    <p:sldId id="318" r:id="rId17"/>
    <p:sldId id="342" r:id="rId18"/>
    <p:sldId id="355" r:id="rId19"/>
    <p:sldId id="328" r:id="rId20"/>
    <p:sldId id="356" r:id="rId21"/>
    <p:sldId id="319" r:id="rId22"/>
    <p:sldId id="343" r:id="rId23"/>
    <p:sldId id="330" r:id="rId24"/>
    <p:sldId id="329" r:id="rId25"/>
    <p:sldId id="344" r:id="rId26"/>
    <p:sldId id="331" r:id="rId27"/>
    <p:sldId id="358" r:id="rId28"/>
    <p:sldId id="320" r:id="rId29"/>
    <p:sldId id="345" r:id="rId30"/>
    <p:sldId id="332" r:id="rId31"/>
    <p:sldId id="346" r:id="rId32"/>
    <p:sldId id="333" r:id="rId33"/>
    <p:sldId id="361" r:id="rId34"/>
    <p:sldId id="321" r:id="rId35"/>
    <p:sldId id="347" r:id="rId36"/>
    <p:sldId id="334" r:id="rId37"/>
    <p:sldId id="348" r:id="rId38"/>
    <p:sldId id="335" r:id="rId39"/>
    <p:sldId id="349" r:id="rId40"/>
    <p:sldId id="337" r:id="rId41"/>
    <p:sldId id="350" r:id="rId42"/>
    <p:sldId id="336" r:id="rId43"/>
    <p:sldId id="365" r:id="rId44"/>
    <p:sldId id="351" r:id="rId45"/>
    <p:sldId id="338" r:id="rId46"/>
    <p:sldId id="353" r:id="rId47"/>
    <p:sldId id="322" r:id="rId48"/>
    <p:sldId id="366" r:id="rId49"/>
    <p:sldId id="278" r:id="rId50"/>
  </p:sldIdLst>
  <p:sldSz cx="9144000" cy="5143500" type="screen16x9"/>
  <p:notesSz cx="6858000" cy="9144000"/>
  <p:embeddedFontLst>
    <p:embeddedFont>
      <p:font typeface="Arvo" panose="02000000000000000000" pitchFamily="2" charset="77"/>
      <p:regular r:id="rId52"/>
      <p:bold r:id="rId53"/>
      <p:italic r:id="rId54"/>
      <p:boldItalic r:id="rId55"/>
    </p:embeddedFont>
    <p:embeddedFont>
      <p:font typeface="Roboto Condensed" panose="02000000000000000000" pitchFamily="2" charset="0"/>
      <p:regular r:id="rId56"/>
      <p:bold r:id="rId57"/>
      <p:italic r:id="rId58"/>
      <p:boldItalic r:id="rId59"/>
    </p:embeddedFont>
    <p:embeddedFont>
      <p:font typeface="Roboto Condensed Light" panose="02000000000000000000" pitchFamily="2"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modifyVerifier cryptProviderType="rsaAES" cryptAlgorithmClass="hash" cryptAlgorithmType="typeAny" cryptAlgorithmSid="14" spinCount="100000" saltData="RCwWvaLMwGiFII0OTb9+1w==" hashData="Ggas8vcZd0L6zKDkkSOlGNxVW/BpV4bcpioyip3o0PXd6Zg+0NkRQ1P5DF1qFyDQ86/dSA+QD9HOSGnrUK3q0A=="/>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7665BA-8202-44FC-AD62-C9F0E3EA811A}">
  <a:tblStyle styleId="{E27665BA-8202-44FC-AD62-C9F0E3EA811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DE48A-E3B5-44D0-98CB-AE0B3FDC037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p:restoredTop sz="62099"/>
  </p:normalViewPr>
  <p:slideViewPr>
    <p:cSldViewPr snapToGrid="0" snapToObjects="1">
      <p:cViewPr varScale="1">
        <p:scale>
          <a:sx n="87" d="100"/>
          <a:sy n="87" d="100"/>
        </p:scale>
        <p:origin x="22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100" dirty="0"/>
              <a:t>Participants: </a:t>
            </a:r>
          </a:p>
          <a:p>
            <a:pPr marL="628650" lvl="1" indent="-171450" algn="l" rtl="0">
              <a:spcBef>
                <a:spcPts val="0"/>
              </a:spcBef>
              <a:spcAft>
                <a:spcPts val="0"/>
              </a:spcAft>
              <a:buFont typeface="Arial" panose="020B0604020202020204" pitchFamily="34" charset="0"/>
              <a:buChar char="•"/>
            </a:pPr>
            <a:r>
              <a:rPr lang="en-US" sz="1100" dirty="0"/>
              <a:t>These individuals included nurses, physicians, and auxiliary staff directly involved in providing critical care to patients under high-stress conditions. </a:t>
            </a:r>
            <a:endParaRPr dirty="0"/>
          </a:p>
        </p:txBody>
      </p:sp>
    </p:spTree>
    <p:extLst>
      <p:ext uri="{BB962C8B-B14F-4D97-AF65-F5344CB8AC3E}">
        <p14:creationId xmlns:p14="http://schemas.microsoft.com/office/powerpoint/2010/main" val="2522210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715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9907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US" sz="1100" b="0" i="0" u="none" strike="noStrike" cap="none" dirty="0">
                <a:solidFill>
                  <a:srgbClr val="000000"/>
                </a:solidFill>
                <a:effectLst/>
                <a:latin typeface="Arial"/>
                <a:ea typeface="Arial"/>
                <a:cs typeface="Arial"/>
                <a:sym typeface="Arial"/>
              </a:rPr>
              <a:t>Alternative methods considered:</a:t>
            </a:r>
          </a:p>
          <a:p>
            <a:pPr lvl="1"/>
            <a:r>
              <a:rPr lang="en-US" sz="1100" b="0" i="0" u="none" strike="noStrike" cap="none" dirty="0">
                <a:solidFill>
                  <a:srgbClr val="000000"/>
                </a:solidFill>
                <a:effectLst/>
                <a:latin typeface="Arial"/>
                <a:ea typeface="Arial"/>
                <a:cs typeface="Arial"/>
                <a:sym typeface="Arial"/>
              </a:rPr>
              <a:t>Means and SDs — rejected because they are only appropriate for continuous variables (e.g., age as a number), while the study used age and similar variables in grouped categories.</a:t>
            </a:r>
          </a:p>
          <a:p>
            <a:pPr lvl="1"/>
            <a:r>
              <a:rPr lang="en-US" sz="1100" b="0" i="0" u="none" strike="noStrike" cap="none" dirty="0">
                <a:solidFill>
                  <a:srgbClr val="000000"/>
                </a:solidFill>
                <a:effectLst/>
                <a:latin typeface="Arial"/>
                <a:ea typeface="Arial"/>
                <a:cs typeface="Arial"/>
                <a:sym typeface="Arial"/>
              </a:rPr>
              <a:t>Graphs only — rejected as a primary method because they are less concise for statistical reporting; tables were preferred for clarity. </a:t>
            </a:r>
          </a:p>
        </p:txBody>
      </p:sp>
    </p:spTree>
    <p:extLst>
      <p:ext uri="{BB962C8B-B14F-4D97-AF65-F5344CB8AC3E}">
        <p14:creationId xmlns:p14="http://schemas.microsoft.com/office/powerpoint/2010/main" val="4227579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The sample comprised an equal distribution of male and female participants (50.0% each). </a:t>
            </a:r>
          </a:p>
          <a:p>
            <a:pPr marL="171450" lvl="0" indent="-171450" algn="l" rtl="0">
              <a:spcBef>
                <a:spcPts val="0"/>
              </a:spcBef>
              <a:spcAft>
                <a:spcPts val="0"/>
              </a:spcAft>
            </a:pPr>
            <a:r>
              <a:rPr lang="en-US" dirty="0"/>
              <a:t>Most respondents were aged 26–35 years (57.5%), followed by those aged 36–45 years (41.8%), with only one participant aged up to 25 years (0.7%). </a:t>
            </a:r>
          </a:p>
          <a:p>
            <a:pPr marL="171450" lvl="0" indent="-171450" algn="l" rtl="0">
              <a:spcBef>
                <a:spcPts val="0"/>
              </a:spcBef>
              <a:spcAft>
                <a:spcPts val="0"/>
              </a:spcAft>
            </a:pPr>
            <a:r>
              <a:rPr lang="en-US" dirty="0"/>
              <a:t>Over half were married (51.5%), with singles comprising 38.8%, divorced 5.2%, and widowed 4.5%. </a:t>
            </a:r>
            <a:endParaRPr dirty="0"/>
          </a:p>
        </p:txBody>
      </p:sp>
    </p:spTree>
    <p:extLst>
      <p:ext uri="{BB962C8B-B14F-4D97-AF65-F5344CB8AC3E}">
        <p14:creationId xmlns:p14="http://schemas.microsoft.com/office/powerpoint/2010/main" val="1099118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b="0" dirty="0"/>
              <a:t>The majority were nurses (65.7%), followed by support staff (19.4%) and physicians (14.9%). </a:t>
            </a:r>
          </a:p>
          <a:p>
            <a:pPr marL="171450" lvl="0" indent="-171450" algn="l" rtl="0">
              <a:spcBef>
                <a:spcPts val="0"/>
              </a:spcBef>
              <a:spcAft>
                <a:spcPts val="0"/>
              </a:spcAft>
            </a:pPr>
            <a:r>
              <a:rPr lang="en-US" b="0" dirty="0"/>
              <a:t>Working hours were nearly evenly split between below average (35.1%), average (35.8%), and above average (29.1%). </a:t>
            </a:r>
          </a:p>
          <a:p>
            <a:pPr marL="171450" lvl="0" indent="-171450" algn="l" rtl="0">
              <a:spcBef>
                <a:spcPts val="0"/>
              </a:spcBef>
              <a:spcAft>
                <a:spcPts val="0"/>
              </a:spcAft>
            </a:pPr>
            <a:r>
              <a:rPr lang="en-US" b="0" dirty="0"/>
              <a:t>Nearly half of participants reported 1–5 years (49.3%) or 6–10 years (48.5%) of ICU experience, with only 2.2% having 11–15 years.</a:t>
            </a:r>
            <a:endParaRPr b="0" dirty="0"/>
          </a:p>
        </p:txBody>
      </p:sp>
    </p:spTree>
    <p:extLst>
      <p:ext uri="{BB962C8B-B14F-4D97-AF65-F5344CB8AC3E}">
        <p14:creationId xmlns:p14="http://schemas.microsoft.com/office/powerpoint/2010/main" val="1032107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US" sz="1100" b="0" i="0" u="none" strike="noStrike" cap="none" dirty="0">
                <a:solidFill>
                  <a:srgbClr val="000000"/>
                </a:solidFill>
                <a:effectLst/>
                <a:latin typeface="Arial"/>
                <a:ea typeface="Arial"/>
                <a:cs typeface="Arial"/>
                <a:sym typeface="Arial"/>
              </a:rPr>
              <a:t>Alternative methods considered:</a:t>
            </a:r>
          </a:p>
          <a:p>
            <a:pPr lvl="1"/>
            <a:r>
              <a:rPr lang="en-US" sz="1100" b="0" i="0" u="none" strike="noStrike" cap="none" dirty="0">
                <a:solidFill>
                  <a:srgbClr val="000000"/>
                </a:solidFill>
                <a:effectLst/>
                <a:latin typeface="Arial"/>
                <a:ea typeface="Arial"/>
                <a:cs typeface="Arial"/>
                <a:sym typeface="Arial"/>
              </a:rPr>
              <a:t>Independent-samples t-test — rejected because it assumes continuous data with normally distributed values.</a:t>
            </a:r>
          </a:p>
          <a:p>
            <a:pPr lvl="1"/>
            <a:r>
              <a:rPr lang="en-US" sz="1100" b="0" i="0" u="none" strike="noStrike" cap="none" dirty="0">
                <a:solidFill>
                  <a:srgbClr val="000000"/>
                </a:solidFill>
                <a:effectLst/>
                <a:latin typeface="Arial"/>
                <a:ea typeface="Arial"/>
                <a:cs typeface="Arial"/>
                <a:sym typeface="Arial"/>
              </a:rPr>
              <a:t>Logistic regression — rejected at baseline stage because the objective was descriptive equivalence rather than predictive modeling. </a:t>
            </a:r>
          </a:p>
          <a:p>
            <a:pPr lvl="1"/>
            <a:r>
              <a:rPr lang="en-US" sz="1100" b="0" i="0" u="none" strike="noStrike" cap="none" dirty="0">
                <a:solidFill>
                  <a:srgbClr val="000000"/>
                </a:solidFill>
                <a:effectLst/>
                <a:latin typeface="Arial"/>
                <a:ea typeface="Arial"/>
                <a:cs typeface="Arial"/>
                <a:sym typeface="Arial"/>
              </a:rPr>
              <a:t>Likelihood Ratio Chi-square – similar but Pearson’s is standard for socio-demographic association testing unless sample sizes are very small.</a:t>
            </a:r>
          </a:p>
          <a:p>
            <a:pPr lvl="1"/>
            <a:r>
              <a:rPr lang="en-US" sz="1100" b="0" i="0" u="none" strike="noStrike" cap="none" dirty="0" err="1">
                <a:solidFill>
                  <a:srgbClr val="000000"/>
                </a:solidFill>
                <a:effectLst/>
                <a:latin typeface="Arial"/>
                <a:ea typeface="Arial"/>
                <a:cs typeface="Arial"/>
                <a:sym typeface="Arial"/>
              </a:rPr>
              <a:t>Cramér’s</a:t>
            </a:r>
            <a:r>
              <a:rPr lang="en-US" sz="1100" b="0" i="0" u="none" strike="noStrike" cap="none" dirty="0">
                <a:solidFill>
                  <a:srgbClr val="000000"/>
                </a:solidFill>
                <a:effectLst/>
                <a:latin typeface="Arial"/>
                <a:ea typeface="Arial"/>
                <a:cs typeface="Arial"/>
                <a:sym typeface="Arial"/>
              </a:rPr>
              <a:t> V – useful for effect size, but secondary to establishing significance. </a:t>
            </a:r>
          </a:p>
        </p:txBody>
      </p:sp>
    </p:spTree>
    <p:extLst>
      <p:ext uri="{BB962C8B-B14F-4D97-AF65-F5344CB8AC3E}">
        <p14:creationId xmlns:p14="http://schemas.microsoft.com/office/powerpoint/2010/main" val="568651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lvl="0" indent="-171450" algn="l" rtl="0">
              <a:spcBef>
                <a:spcPts val="0"/>
              </a:spcBef>
              <a:spcAft>
                <a:spcPts val="0"/>
              </a:spcAft>
            </a:pPr>
            <a:r>
              <a:rPr lang="en-US" dirty="0"/>
              <a:t>Baseline socio-demographic characteristics were balanced between treatment and control groups, with no statistically significant differences in gender, age group, marital status, role, ICU experience length, or working hours. </a:t>
            </a:r>
          </a:p>
          <a:p>
            <a:pPr marL="171450" lvl="0" indent="-171450" algn="l" rtl="0">
              <a:spcBef>
                <a:spcPts val="0"/>
              </a:spcBef>
              <a:spcAft>
                <a:spcPts val="0"/>
              </a:spcAft>
            </a:pPr>
            <a:r>
              <a:rPr lang="en-US" dirty="0"/>
              <a:t>Effect size estimates (</a:t>
            </a:r>
            <a:r>
              <a:rPr lang="en-US" dirty="0" err="1"/>
              <a:t>Cramér’s</a:t>
            </a:r>
            <a:r>
              <a:rPr lang="en-US" dirty="0"/>
              <a:t> V) for all variables were small (&lt; .20), supporting the absence of meaningful baseline imbalance. </a:t>
            </a:r>
            <a:endParaRPr dirty="0"/>
          </a:p>
        </p:txBody>
      </p:sp>
    </p:spTree>
    <p:extLst>
      <p:ext uri="{BB962C8B-B14F-4D97-AF65-F5344CB8AC3E}">
        <p14:creationId xmlns:p14="http://schemas.microsoft.com/office/powerpoint/2010/main" val="2856545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lvl="0" indent="-171450" algn="l" rtl="0">
              <a:spcBef>
                <a:spcPts val="0"/>
              </a:spcBef>
              <a:spcAft>
                <a:spcPts val="0"/>
              </a:spcAft>
              <a:buFont typeface="Arial" panose="020B0604020202020204" pitchFamily="34" charset="0"/>
              <a:buChar char="•"/>
            </a:pPr>
            <a:r>
              <a:rPr lang="en-US" dirty="0"/>
              <a:t>The largest effect sizes were observed for working hours (V = .192) and ICU experience length (V = .189), but these remained below the threshold for medium effects, suggesting any observed differences are unlikely to meaningfully bias subsequent outcome analyses. </a:t>
            </a:r>
            <a:endParaRPr dirty="0"/>
          </a:p>
        </p:txBody>
      </p:sp>
    </p:spTree>
    <p:extLst>
      <p:ext uri="{BB962C8B-B14F-4D97-AF65-F5344CB8AC3E}">
        <p14:creationId xmlns:p14="http://schemas.microsoft.com/office/powerpoint/2010/main" val="3240431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US" sz="1100" b="0" i="0" u="none" strike="noStrike" cap="none" dirty="0">
                <a:solidFill>
                  <a:srgbClr val="000000"/>
                </a:solidFill>
                <a:effectLst/>
                <a:latin typeface="Arial"/>
                <a:ea typeface="Arial"/>
                <a:cs typeface="Arial"/>
                <a:sym typeface="Arial"/>
              </a:rPr>
              <a:t>Pairs tested and rationale:</a:t>
            </a:r>
          </a:p>
          <a:p>
            <a:pPr lvl="1"/>
            <a:r>
              <a:rPr lang="en-US" sz="1100" b="0" i="0" u="none" strike="noStrike" cap="none" dirty="0">
                <a:solidFill>
                  <a:srgbClr val="000000"/>
                </a:solidFill>
                <a:effectLst/>
                <a:latin typeface="Arial"/>
                <a:ea typeface="Arial"/>
                <a:cs typeface="Arial"/>
                <a:sym typeface="Arial"/>
              </a:rPr>
              <a:t>Gender × Marital Status – Marital support may influence coping with trauma.</a:t>
            </a:r>
          </a:p>
          <a:p>
            <a:pPr lvl="1"/>
            <a:r>
              <a:rPr lang="en-US" sz="1100" b="0" i="0" u="none" strike="noStrike" cap="none" dirty="0">
                <a:solidFill>
                  <a:srgbClr val="000000"/>
                </a:solidFill>
                <a:effectLst/>
                <a:latin typeface="Arial"/>
                <a:ea typeface="Arial"/>
                <a:cs typeface="Arial"/>
                <a:sym typeface="Arial"/>
              </a:rPr>
              <a:t>Gender × Professional Role – Different roles may have unequal gender representation, influencing exposure to trauma.</a:t>
            </a:r>
          </a:p>
          <a:p>
            <a:pPr lvl="1"/>
            <a:r>
              <a:rPr lang="en-US" sz="1100" b="0" i="0" u="none" strike="noStrike" cap="none" dirty="0">
                <a:solidFill>
                  <a:srgbClr val="000000"/>
                </a:solidFill>
                <a:effectLst/>
                <a:latin typeface="Arial"/>
                <a:ea typeface="Arial"/>
                <a:cs typeface="Arial"/>
                <a:sym typeface="Arial"/>
              </a:rPr>
              <a:t>Gender × Years of ICU Experience (categorical) – Experience differences could confound PTSD outcomes.</a:t>
            </a:r>
          </a:p>
          <a:p>
            <a:pPr lvl="1"/>
            <a:r>
              <a:rPr lang="en-US" sz="1100" b="0" i="0" u="none" strike="noStrike" cap="none" dirty="0">
                <a:solidFill>
                  <a:srgbClr val="000000"/>
                </a:solidFill>
                <a:effectLst/>
                <a:latin typeface="Arial"/>
                <a:ea typeface="Arial"/>
                <a:cs typeface="Arial"/>
                <a:sym typeface="Arial"/>
              </a:rPr>
              <a:t>Professional Role × Years of ICU Experience – Experience may vary systematically by role, affecting burnout risk.</a:t>
            </a:r>
          </a:p>
          <a:p>
            <a:pPr lvl="1"/>
            <a:r>
              <a:rPr lang="en-US" sz="1100" b="0" i="0" u="none" strike="noStrike" cap="none" dirty="0">
                <a:solidFill>
                  <a:srgbClr val="000000"/>
                </a:solidFill>
                <a:effectLst/>
                <a:latin typeface="Arial"/>
                <a:ea typeface="Arial"/>
                <a:cs typeface="Arial"/>
                <a:sym typeface="Arial"/>
              </a:rPr>
              <a:t>Hospital Site × Professional Role – Site-specific staffing patterns may influence workload distribution.</a:t>
            </a:r>
          </a:p>
          <a:p>
            <a:pPr lvl="1"/>
            <a:r>
              <a:rPr lang="en-US" sz="1100" b="0" i="0" u="none" strike="noStrike" cap="none" dirty="0">
                <a:solidFill>
                  <a:srgbClr val="000000"/>
                </a:solidFill>
                <a:effectLst/>
                <a:latin typeface="Arial"/>
                <a:ea typeface="Arial"/>
                <a:cs typeface="Arial"/>
                <a:sym typeface="Arial"/>
              </a:rPr>
              <a:t>Hospital Site × Gender – Gender representation differences between sites could reflect systemic staffing patterns.</a:t>
            </a:r>
          </a:p>
          <a:p>
            <a:pPr lvl="1"/>
            <a:r>
              <a:rPr lang="en-US" sz="1100" b="0" i="0" u="none" strike="noStrike" cap="none" dirty="0">
                <a:solidFill>
                  <a:srgbClr val="000000"/>
                </a:solidFill>
                <a:effectLst/>
                <a:latin typeface="Arial"/>
                <a:ea typeface="Arial"/>
                <a:cs typeface="Arial"/>
                <a:sym typeface="Arial"/>
              </a:rPr>
              <a:t>Marital Status × Years of ICU Experience – Longer-serving staff may differ in relationship status, influencing support systems.</a:t>
            </a:r>
          </a:p>
          <a:p>
            <a:pPr lvl="0"/>
            <a:r>
              <a:rPr lang="en-US" sz="1100" b="0" i="0" u="none" strike="noStrike" cap="none" dirty="0">
                <a:solidFill>
                  <a:srgbClr val="000000"/>
                </a:solidFill>
                <a:effectLst/>
                <a:latin typeface="Arial"/>
                <a:ea typeface="Arial"/>
                <a:cs typeface="Arial"/>
                <a:sym typeface="Arial"/>
              </a:rPr>
              <a:t>Alternative methods considered:</a:t>
            </a:r>
          </a:p>
          <a:p>
            <a:pPr lvl="1"/>
            <a:r>
              <a:rPr lang="en-US" sz="1100" b="0" i="0" u="none" strike="noStrike" cap="none" dirty="0">
                <a:solidFill>
                  <a:srgbClr val="000000"/>
                </a:solidFill>
                <a:effectLst/>
                <a:latin typeface="Arial"/>
                <a:ea typeface="Arial"/>
                <a:cs typeface="Arial"/>
                <a:sym typeface="Arial"/>
              </a:rPr>
              <a:t>Likelihood Ratio Chi-square – similar but Pearson’s is standard for socio-demographic association testing unless sample sizes are very small.</a:t>
            </a:r>
          </a:p>
          <a:p>
            <a:pPr lvl="1"/>
            <a:r>
              <a:rPr lang="en-US" sz="1100" b="0" i="0" u="none" strike="noStrike" cap="none" dirty="0" err="1">
                <a:solidFill>
                  <a:srgbClr val="000000"/>
                </a:solidFill>
                <a:effectLst/>
                <a:latin typeface="Arial"/>
                <a:ea typeface="Arial"/>
                <a:cs typeface="Arial"/>
                <a:sym typeface="Arial"/>
              </a:rPr>
              <a:t>Cramér’s</a:t>
            </a:r>
            <a:r>
              <a:rPr lang="en-US" sz="1100" b="0" i="0" u="none" strike="noStrike" cap="none" dirty="0">
                <a:solidFill>
                  <a:srgbClr val="000000"/>
                </a:solidFill>
                <a:effectLst/>
                <a:latin typeface="Arial"/>
                <a:ea typeface="Arial"/>
                <a:cs typeface="Arial"/>
                <a:sym typeface="Arial"/>
              </a:rPr>
              <a:t> V – useful for effect size, but secondary to establishing significance.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33658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Two statistically significant associations were found:</a:t>
            </a:r>
          </a:p>
          <a:p>
            <a:pPr marL="628650" lvl="1" indent="-171450" algn="l" rtl="0">
              <a:spcBef>
                <a:spcPts val="0"/>
              </a:spcBef>
              <a:spcAft>
                <a:spcPts val="0"/>
              </a:spcAft>
            </a:pPr>
            <a:r>
              <a:rPr lang="en-US" dirty="0"/>
              <a:t>Gender × Professional Role (p = .020, V = .242, small–medium effect) — suggesting certain roles had unequal gender representation.</a:t>
            </a:r>
          </a:p>
          <a:p>
            <a:pPr marL="628650" lvl="1" indent="-171450" algn="l" rtl="0">
              <a:spcBef>
                <a:spcPts val="0"/>
              </a:spcBef>
              <a:spcAft>
                <a:spcPts val="0"/>
              </a:spcAft>
            </a:pPr>
            <a:r>
              <a:rPr lang="en-US" dirty="0"/>
              <a:t>Professional Role × ICU Experience Length (p = .001, V = .327, medium effect) — indicating ICU experience distribution varied across roles.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These relationships could act as potential confounders in analyses involving gender, professional role, and ICU experience. All other tested associations were not statistically significant, with small effect sizes.</a:t>
            </a:r>
          </a:p>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3985611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The socio-demographic profiling confirms that treatment and control groups are balanced, strengthening the study’s internal validity.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significant associations (Gender × Role, Role × ICU Experience Length) identify plausible confounders, which you should statistically account for in outcome analyses.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This dual finding — equivalence at baseline but internal demographic clustering — is common in clinical and occupational studies and underscores the value of careful covariate adjustment.</a:t>
            </a:r>
          </a:p>
        </p:txBody>
      </p:sp>
    </p:spTree>
    <p:extLst>
      <p:ext uri="{BB962C8B-B14F-4D97-AF65-F5344CB8AC3E}">
        <p14:creationId xmlns:p14="http://schemas.microsoft.com/office/powerpoint/2010/main" val="2493760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519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endParaRPr lang="en-US" dirty="0">
              <a:effectLst/>
            </a:endParaRPr>
          </a:p>
          <a:p>
            <a:pPr lvl="0"/>
            <a:r>
              <a:rPr lang="en-US" sz="1100" b="0" i="0" u="none" strike="noStrike" cap="none" dirty="0">
                <a:solidFill>
                  <a:srgbClr val="000000"/>
                </a:solidFill>
                <a:effectLst/>
                <a:latin typeface="Arial"/>
                <a:ea typeface="Arial"/>
                <a:cs typeface="Arial"/>
                <a:sym typeface="Arial"/>
              </a:rPr>
              <a:t>Using the continuous PCL-5 total score — rejected because prevalence requires a threshold to classify cases.</a:t>
            </a:r>
          </a:p>
          <a:p>
            <a:pPr lvl="0"/>
            <a:r>
              <a:rPr lang="en-US" sz="1100" b="0" i="0" u="none" strike="noStrike" cap="none" dirty="0">
                <a:solidFill>
                  <a:srgbClr val="000000"/>
                </a:solidFill>
                <a:effectLst/>
                <a:latin typeface="Arial"/>
                <a:ea typeface="Arial"/>
                <a:cs typeface="Arial"/>
                <a:sym typeface="Arial"/>
              </a:rPr>
              <a:t>Creating severity categories — rejected because the stated objective does not address severity differences. </a:t>
            </a:r>
            <a:endParaRPr lang="en-US" dirty="0">
              <a:effectLst/>
            </a:endParaRPr>
          </a:p>
          <a:p>
            <a:pPr lvl="0"/>
            <a:r>
              <a:rPr lang="en-US" sz="1100" b="0" i="0" u="none" strike="noStrike" cap="none" dirty="0">
                <a:solidFill>
                  <a:srgbClr val="000000"/>
                </a:solidFill>
                <a:effectLst/>
                <a:latin typeface="Arial"/>
                <a:ea typeface="Arial"/>
                <a:cs typeface="Arial"/>
                <a:sym typeface="Arial"/>
              </a:rPr>
              <a:t>Means and standard deviations — rejected because the variable is categorical, making central tendency measures inappropriate.	</a:t>
            </a:r>
          </a:p>
        </p:txBody>
      </p:sp>
    </p:spTree>
    <p:extLst>
      <p:ext uri="{BB962C8B-B14F-4D97-AF65-F5344CB8AC3E}">
        <p14:creationId xmlns:p14="http://schemas.microsoft.com/office/powerpoint/2010/main" val="2085193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US" sz="1100" b="0" i="0" u="none" strike="noStrike" cap="none" dirty="0">
                <a:solidFill>
                  <a:srgbClr val="000000"/>
                </a:solidFill>
                <a:effectLst/>
                <a:latin typeface="Arial"/>
                <a:ea typeface="Arial"/>
                <a:cs typeface="Arial"/>
                <a:sym typeface="Arial"/>
              </a:rPr>
              <a:t>Alternative methods considered:</a:t>
            </a:r>
          </a:p>
          <a:p>
            <a:pPr lvl="1"/>
            <a:r>
              <a:rPr lang="en-US" sz="1100" b="0" i="0" u="none" strike="noStrike" cap="none" dirty="0">
                <a:solidFill>
                  <a:srgbClr val="000000"/>
                </a:solidFill>
                <a:effectLst/>
                <a:latin typeface="Arial"/>
                <a:ea typeface="Arial"/>
                <a:cs typeface="Arial"/>
                <a:sym typeface="Arial"/>
              </a:rPr>
              <a:t>Fisher’s Exact Test — considered for small cell counts (&lt;5), but if all cells have sufficient counts, Pearson’s Chi-square is preferred for simplicity.</a:t>
            </a:r>
          </a:p>
          <a:p>
            <a:pPr lvl="1"/>
            <a:r>
              <a:rPr lang="en-US" sz="1100" b="0" i="0" u="none" strike="noStrike" cap="none" dirty="0">
                <a:solidFill>
                  <a:srgbClr val="000000"/>
                </a:solidFill>
                <a:effectLst/>
                <a:latin typeface="Arial"/>
                <a:ea typeface="Arial"/>
                <a:cs typeface="Arial"/>
                <a:sym typeface="Arial"/>
              </a:rPr>
              <a:t>Independent-samples t-test — rejected because PTSD status is not continuous.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8856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None/>
              <a:tabLst/>
              <a:defRPr/>
            </a:pPr>
            <a:r>
              <a:rPr lang="en-US" sz="1100" b="1" i="0" u="none" strike="noStrike" cap="none" dirty="0">
                <a:solidFill>
                  <a:srgbClr val="000000"/>
                </a:solidFill>
                <a:effectLst/>
                <a:latin typeface="Arial"/>
                <a:ea typeface="Arial"/>
                <a:cs typeface="Arial"/>
                <a:sym typeface="Arial"/>
              </a:rPr>
              <a:t>Results: </a:t>
            </a: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US" sz="1100" b="0" i="0" u="none" strike="noStrike" cap="none" dirty="0">
                <a:solidFill>
                  <a:srgbClr val="000000"/>
                </a:solidFill>
                <a:effectLst/>
                <a:latin typeface="Arial"/>
                <a:ea typeface="Arial"/>
                <a:cs typeface="Arial"/>
                <a:sym typeface="Arial"/>
              </a:rPr>
              <a:t>At baseline, a vast majority of ICU healthcare professionals met the criteria for probable PTSD. </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US" sz="1100" b="0" i="0" u="none" strike="noStrike" cap="none" dirty="0">
                <a:solidFill>
                  <a:srgbClr val="000000"/>
                </a:solidFill>
                <a:effectLst/>
                <a:latin typeface="Arial"/>
                <a:ea typeface="Arial"/>
                <a:cs typeface="Arial"/>
                <a:sym typeface="Arial"/>
              </a:rPr>
              <a:t>Out of 134 participants, 127 (94.8%) were classified as likely to have PTSD, while only 7 (5.2%) were classified as unlikely to have PTSD. </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endParaRPr lang="en-US" sz="1100" b="0" i="0" u="none" strike="noStrike" cap="none" dirty="0">
              <a:solidFill>
                <a:srgbClr val="000000"/>
              </a:solidFill>
              <a:effectLst/>
              <a:latin typeface="Arial"/>
              <a:ea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US" sz="1100" b="0" i="0" u="none" strike="noStrike" cap="none" dirty="0">
                <a:solidFill>
                  <a:srgbClr val="000000"/>
                </a:solidFill>
                <a:effectLst/>
                <a:latin typeface="Arial"/>
                <a:ea typeface="Arial"/>
                <a:cs typeface="Arial"/>
                <a:sym typeface="Arial"/>
              </a:rPr>
              <a:t>Results indicated a statistically significant difference in PTSD status between groups, χ²(1, N = 134) = 7.39, </a:t>
            </a:r>
            <a:r>
              <a:rPr lang="en-US" sz="1100" b="0" i="1" u="none" strike="noStrike" cap="none" dirty="0">
                <a:solidFill>
                  <a:srgbClr val="000000"/>
                </a:solidFill>
                <a:effectLst/>
                <a:latin typeface="Arial"/>
                <a:ea typeface="Arial"/>
                <a:cs typeface="Arial"/>
                <a:sym typeface="Arial"/>
              </a:rPr>
              <a:t>p</a:t>
            </a:r>
            <a:r>
              <a:rPr lang="en-US" sz="1100" b="0" i="0" u="none" strike="noStrike" cap="none" dirty="0">
                <a:solidFill>
                  <a:srgbClr val="000000"/>
                </a:solidFill>
                <a:effectLst/>
                <a:latin typeface="Arial"/>
                <a:ea typeface="Arial"/>
                <a:cs typeface="Arial"/>
                <a:sym typeface="Arial"/>
              </a:rPr>
              <a:t> = .007, Cramer's </a:t>
            </a:r>
            <a:r>
              <a:rPr lang="en-US" sz="1100" b="0" i="1" u="none" strike="noStrike" cap="none" dirty="0">
                <a:solidFill>
                  <a:srgbClr val="000000"/>
                </a:solidFill>
                <a:effectLst/>
                <a:latin typeface="Arial"/>
                <a:ea typeface="Arial"/>
                <a:cs typeface="Arial"/>
                <a:sym typeface="Arial"/>
              </a:rPr>
              <a:t>V</a:t>
            </a:r>
            <a:r>
              <a:rPr lang="en-US" sz="1100" b="0" i="0" u="none" strike="noStrike" cap="none" dirty="0">
                <a:solidFill>
                  <a:srgbClr val="000000"/>
                </a:solidFill>
                <a:effectLst/>
                <a:latin typeface="Arial"/>
                <a:ea typeface="Arial"/>
                <a:cs typeface="Arial"/>
                <a:sym typeface="Arial"/>
              </a:rPr>
              <a:t> = .235, suggesting a small-to-moderate effect size. </a:t>
            </a:r>
          </a:p>
          <a:p>
            <a:pPr marL="628650" marR="0" lvl="1" indent="-171450" algn="l" defTabSz="914400" rtl="0" eaLnBrk="1" fontAlgn="auto" latinLnBrk="0" hangingPunct="1">
              <a:lnSpc>
                <a:spcPct val="100000"/>
              </a:lnSpc>
              <a:spcBef>
                <a:spcPts val="0"/>
              </a:spcBef>
              <a:spcAft>
                <a:spcPts val="0"/>
              </a:spcAft>
              <a:buClr>
                <a:srgbClr val="000000"/>
              </a:buClr>
              <a:buSzPts val="1400"/>
              <a:tabLst/>
              <a:defRPr/>
            </a:pPr>
            <a:r>
              <a:rPr lang="en-US" sz="1100" b="0" i="0" u="none" strike="noStrike" cap="none" dirty="0">
                <a:solidFill>
                  <a:srgbClr val="000000"/>
                </a:solidFill>
                <a:effectLst/>
                <a:latin typeface="Arial"/>
                <a:ea typeface="Arial"/>
                <a:cs typeface="Arial"/>
                <a:sym typeface="Arial"/>
              </a:rPr>
              <a:t>All participants in the control group were classified as likely to have PTSD (100%), whereas 10.4% of participants in the treatment group were classified as PTSD unlikely. </a:t>
            </a:r>
          </a:p>
        </p:txBody>
      </p:sp>
    </p:spTree>
    <p:extLst>
      <p:ext uri="{BB962C8B-B14F-4D97-AF65-F5344CB8AC3E}">
        <p14:creationId xmlns:p14="http://schemas.microsoft.com/office/powerpoint/2010/main" val="3593241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1438363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1488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dirty="0">
                <a:solidFill>
                  <a:srgbClr val="000000"/>
                </a:solidFill>
                <a:effectLst/>
                <a:latin typeface="Arial"/>
                <a:ea typeface="Arial"/>
                <a:cs typeface="Arial"/>
                <a:sym typeface="Arial"/>
              </a:rPr>
              <a:t>Alternative methods considered: </a:t>
            </a:r>
          </a:p>
          <a:p>
            <a:pPr marL="171450" marR="0" lvl="0" indent="-171450" algn="l" defTabSz="914400" rtl="0" eaLnBrk="1" fontAlgn="auto" latinLnBrk="0" hangingPunct="1">
              <a:lnSpc>
                <a:spcPct val="100000"/>
              </a:lnSpc>
              <a:spcBef>
                <a:spcPts val="0"/>
              </a:spcBef>
              <a:spcAft>
                <a:spcPts val="0"/>
              </a:spcAft>
              <a:buClr>
                <a:srgbClr val="000000"/>
              </a:buClr>
              <a:buSzPts val="1400"/>
              <a:tabLst/>
              <a:defRPr/>
            </a:pPr>
            <a:r>
              <a:rPr lang="en-US" sz="1100" b="0" i="0" u="none" strike="noStrike" cap="none" dirty="0">
                <a:solidFill>
                  <a:srgbClr val="000000"/>
                </a:solidFill>
                <a:effectLst/>
                <a:latin typeface="Arial"/>
                <a:ea typeface="Arial"/>
                <a:cs typeface="Arial"/>
                <a:sym typeface="Arial"/>
              </a:rPr>
              <a:t>Reporting only prevalence above the PCL-5 cut-off (33) would ignore severity, which is this objective’s focus.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70718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b="0" i="0" u="none" strike="noStrike" cap="none" dirty="0">
                <a:solidFill>
                  <a:srgbClr val="000000"/>
                </a:solidFill>
                <a:effectLst/>
                <a:latin typeface="Arial"/>
                <a:ea typeface="Arial"/>
                <a:cs typeface="Arial"/>
                <a:sym typeface="Arial"/>
              </a:rPr>
              <a:t>At baseline, ICU healthcare professionals had a mean PTSD symptom severity score of 42.22 (</a:t>
            </a:r>
            <a:r>
              <a:rPr lang="en-US" sz="1100" b="0" i="1" u="none" strike="noStrike" cap="none" dirty="0">
                <a:solidFill>
                  <a:srgbClr val="000000"/>
                </a:solidFill>
                <a:effectLst/>
                <a:latin typeface="Arial"/>
                <a:ea typeface="Arial"/>
                <a:cs typeface="Arial"/>
                <a:sym typeface="Arial"/>
              </a:rPr>
              <a:t>SD</a:t>
            </a:r>
            <a:r>
              <a:rPr lang="en-US" sz="1100" b="0" i="0" u="none" strike="noStrike" cap="none" dirty="0">
                <a:solidFill>
                  <a:srgbClr val="000000"/>
                </a:solidFill>
                <a:effectLst/>
                <a:latin typeface="Arial"/>
                <a:ea typeface="Arial"/>
                <a:cs typeface="Arial"/>
                <a:sym typeface="Arial"/>
              </a:rPr>
              <a:t> = 5.55), well above the PCL-5 diagnostic cut-off score of 33.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b="0" i="0" u="none" strike="noStrike" cap="none" dirty="0">
                <a:solidFill>
                  <a:srgbClr val="000000"/>
                </a:solidFill>
                <a:effectLst/>
                <a:latin typeface="Arial"/>
                <a:ea typeface="Arial"/>
                <a:cs typeface="Arial"/>
                <a:sym typeface="Arial"/>
              </a:rPr>
              <a:t>Across socio-demographic groups, mean scores were consistently above the clinical threshold, indicating high symptom burden regardless of age, marital status, ICU experience, gender, role, or working hours. </a:t>
            </a:r>
          </a:p>
        </p:txBody>
      </p:sp>
    </p:spTree>
    <p:extLst>
      <p:ext uri="{BB962C8B-B14F-4D97-AF65-F5344CB8AC3E}">
        <p14:creationId xmlns:p14="http://schemas.microsoft.com/office/powerpoint/2010/main" val="1783553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kumimoji="0" lang="en-US" sz="1100" b="0" i="0" u="none" strike="noStrike" kern="0" cap="none" spc="0" normalizeH="0" baseline="0" noProof="0" dirty="0">
                <a:ln>
                  <a:noFill/>
                </a:ln>
                <a:solidFill>
                  <a:srgbClr val="000000"/>
                </a:solidFill>
                <a:effectLst/>
                <a:uLnTx/>
                <a:uFillTx/>
                <a:latin typeface="Arial"/>
                <a:ea typeface="Arial"/>
                <a:cs typeface="Arial"/>
                <a:sym typeface="Arial"/>
              </a:rPr>
              <a:t>Variations in mean scores between categories were modest, with the largest difference observed between support staff (</a:t>
            </a:r>
            <a:r>
              <a:rPr kumimoji="0" lang="en-US" sz="1100" b="0" i="1" u="none" strike="noStrike" kern="0" cap="none" spc="0" normalizeH="0" baseline="0" noProof="0" dirty="0">
                <a:ln>
                  <a:noFill/>
                </a:ln>
                <a:solidFill>
                  <a:srgbClr val="000000"/>
                </a:solidFill>
                <a:effectLst/>
                <a:uLnTx/>
                <a:uFillTx/>
                <a:latin typeface="Arial"/>
                <a:ea typeface="Arial"/>
                <a:cs typeface="Arial"/>
                <a:sym typeface="Arial"/>
              </a:rPr>
              <a:t>M</a:t>
            </a:r>
            <a:r>
              <a:rPr kumimoji="0" lang="en-US" sz="1100" b="0" i="0" u="none" strike="noStrike" kern="0" cap="none" spc="0" normalizeH="0" baseline="0" noProof="0" dirty="0">
                <a:ln>
                  <a:noFill/>
                </a:ln>
                <a:solidFill>
                  <a:srgbClr val="000000"/>
                </a:solidFill>
                <a:effectLst/>
                <a:uLnTx/>
                <a:uFillTx/>
                <a:latin typeface="Arial"/>
                <a:ea typeface="Arial"/>
                <a:cs typeface="Arial"/>
                <a:sym typeface="Arial"/>
              </a:rPr>
              <a:t> = 43.38) and physicians (</a:t>
            </a:r>
            <a:r>
              <a:rPr kumimoji="0" lang="en-US" sz="1100" b="0" i="1" u="none" strike="noStrike" kern="0" cap="none" spc="0" normalizeH="0" baseline="0" noProof="0" dirty="0">
                <a:ln>
                  <a:noFill/>
                </a:ln>
                <a:solidFill>
                  <a:srgbClr val="000000"/>
                </a:solidFill>
                <a:effectLst/>
                <a:uLnTx/>
                <a:uFillTx/>
                <a:latin typeface="Arial"/>
                <a:ea typeface="Arial"/>
                <a:cs typeface="Arial"/>
                <a:sym typeface="Arial"/>
              </a:rPr>
              <a:t>M</a:t>
            </a:r>
            <a:r>
              <a:rPr kumimoji="0" lang="en-US" sz="1100" b="0" i="0" u="none" strike="noStrike" kern="0" cap="none" spc="0" normalizeH="0" baseline="0" noProof="0" dirty="0">
                <a:ln>
                  <a:noFill/>
                </a:ln>
                <a:solidFill>
                  <a:srgbClr val="000000"/>
                </a:solidFill>
                <a:effectLst/>
                <a:uLnTx/>
                <a:uFillTx/>
                <a:latin typeface="Arial"/>
                <a:ea typeface="Arial"/>
                <a:cs typeface="Arial"/>
                <a:sym typeface="Arial"/>
              </a:rPr>
              <a:t> = 40.85).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endParaRPr kumimoji="0" lang="en-US" sz="1100" b="0" i="0" u="none" strike="noStrike" kern="0" cap="none" spc="0" normalizeH="0" baseline="0" noProof="0" dirty="0">
              <a:ln>
                <a:noFill/>
              </a:ln>
              <a:solidFill>
                <a:srgbClr val="000000"/>
              </a:solidFill>
              <a:effectLst/>
              <a:uLnTx/>
              <a:uFillTx/>
              <a:latin typeface="Arial"/>
              <a:ea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kumimoji="0" lang="en-US" sz="1100" b="0" i="0" u="none" strike="noStrike" kern="0" cap="none" spc="0" normalizeH="0" baseline="0" noProof="0" dirty="0">
                <a:ln>
                  <a:noFill/>
                </a:ln>
                <a:solidFill>
                  <a:srgbClr val="000000"/>
                </a:solidFill>
                <a:effectLst/>
                <a:uLnTx/>
                <a:uFillTx/>
                <a:latin typeface="Arial"/>
                <a:ea typeface="Arial"/>
                <a:cs typeface="Arial"/>
                <a:sym typeface="Arial"/>
              </a:rPr>
              <a:t>Confidence intervals for most subgroups overlapped substantially, suggesting limited unadjusted differences.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endParaRPr lang="en-US" sz="1100" b="0" i="0" u="none" strike="noStrike" cap="none" dirty="0">
              <a:solidFill>
                <a:srgbClr val="000000"/>
              </a:solidFill>
              <a:effectLst/>
              <a:latin typeface="Arial"/>
              <a:ea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b="0" i="0" u="none" strike="noStrike" cap="none" dirty="0">
                <a:solidFill>
                  <a:srgbClr val="000000"/>
                </a:solidFill>
                <a:effectLst/>
                <a:latin typeface="Arial"/>
                <a:ea typeface="Arial"/>
                <a:cs typeface="Arial"/>
                <a:sym typeface="Arial"/>
              </a:rPr>
              <a:t>These findings indicate a pervasively high prevalence and severity of PTSD symptoms across the ICU workforce, suggesting that the risk is not confined to a particular socio-demographic subgroup. </a:t>
            </a:r>
            <a:endParaRPr kumimoji="0" lang="en-US" sz="11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52346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Separate one-way ANOVAs / multiple t-tests per factor: </a:t>
            </a:r>
          </a:p>
          <a:p>
            <a:pPr marL="628650" lvl="1" indent="-171450" algn="l" rtl="0">
              <a:spcBef>
                <a:spcPts val="0"/>
              </a:spcBef>
              <a:spcAft>
                <a:spcPts val="0"/>
              </a:spcAft>
            </a:pPr>
            <a:r>
              <a:rPr lang="en-US" dirty="0"/>
              <a:t>Rejected due to inflated Type I error and no adjustment for confounding between socio-demographics.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Multiple Linear Regression with dummy-coded factors (entered stepwise):</a:t>
            </a:r>
          </a:p>
          <a:p>
            <a:pPr marL="628650" lvl="1" indent="-171450" algn="l" rtl="0">
              <a:spcBef>
                <a:spcPts val="0"/>
              </a:spcBef>
              <a:spcAft>
                <a:spcPts val="0"/>
              </a:spcAft>
            </a:pPr>
            <a:r>
              <a:rPr lang="en-US" dirty="0"/>
              <a:t>Mathematically similar to GLM, but we prioritized GLM (Univariate) to keep factor structure explicit, apply built-in post-hoc/least-squares means, and simplify APA reporting. </a:t>
            </a:r>
          </a:p>
          <a:p>
            <a:pPr marL="628650" lvl="1" indent="-171450" algn="l" rtl="0">
              <a:spcBef>
                <a:spcPts val="0"/>
              </a:spcBef>
              <a:spcAft>
                <a:spcPts val="0"/>
              </a:spcAft>
            </a:pPr>
            <a:r>
              <a:rPr lang="en-US" dirty="0"/>
              <a:t>Stepwise selection adds data-driven bias; we preferred a theory-driven full main-effects model.</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Non-parametric tests (Mann–Whitney U / Kruskal–Wallis):</a:t>
            </a:r>
          </a:p>
          <a:p>
            <a:pPr marL="628650" lvl="1" indent="-171450" algn="l" rtl="0">
              <a:spcBef>
                <a:spcPts val="0"/>
              </a:spcBef>
              <a:spcAft>
                <a:spcPts val="0"/>
              </a:spcAft>
            </a:pPr>
            <a:r>
              <a:rPr lang="en-US" dirty="0"/>
              <a:t>Rejected because GLM assumptions were reasonably met after collapsing categories </a:t>
            </a:r>
          </a:p>
          <a:p>
            <a:pPr marL="628650" lvl="1" indent="-171450" algn="l" rtl="0">
              <a:spcBef>
                <a:spcPts val="0"/>
              </a:spcBef>
              <a:spcAft>
                <a:spcPts val="0"/>
              </a:spcAft>
            </a:pPr>
            <a:r>
              <a:rPr lang="en-US" dirty="0"/>
              <a:t>Non-</a:t>
            </a:r>
            <a:r>
              <a:rPr lang="en-US" dirty="0" err="1"/>
              <a:t>parametrics</a:t>
            </a:r>
            <a:r>
              <a:rPr lang="en-US" dirty="0"/>
              <a:t> complicate multi-factor adjustment and effect-size reporting.</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Including interactions among factors:</a:t>
            </a:r>
          </a:p>
          <a:p>
            <a:pPr marL="628650" lvl="1" indent="-171450" algn="l" rtl="0">
              <a:spcBef>
                <a:spcPts val="0"/>
              </a:spcBef>
              <a:spcAft>
                <a:spcPts val="0"/>
              </a:spcAft>
            </a:pPr>
            <a:r>
              <a:rPr lang="en-US" dirty="0"/>
              <a:t>Rejected to preserve power and avoid very small cells given sample size  </a:t>
            </a:r>
          </a:p>
          <a:p>
            <a:pPr marL="628650" lvl="1" indent="-171450" algn="l" rtl="0">
              <a:spcBef>
                <a:spcPts val="0"/>
              </a:spcBef>
              <a:spcAft>
                <a:spcPts val="0"/>
              </a:spcAft>
            </a:pPr>
            <a:r>
              <a:rPr lang="en-US" dirty="0"/>
              <a:t>Interactions were beyond the scope of Objective 2.</a:t>
            </a:r>
            <a:endParaRPr dirty="0"/>
          </a:p>
        </p:txBody>
      </p:sp>
    </p:spTree>
    <p:extLst>
      <p:ext uri="{BB962C8B-B14F-4D97-AF65-F5344CB8AC3E}">
        <p14:creationId xmlns:p14="http://schemas.microsoft.com/office/powerpoint/2010/main" val="690939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b="0" i="0" u="none" strike="noStrike" cap="none" dirty="0" err="1">
                <a:solidFill>
                  <a:srgbClr val="000000"/>
                </a:solidFill>
                <a:effectLst/>
                <a:latin typeface="Arial"/>
                <a:ea typeface="Arial"/>
                <a:cs typeface="Arial"/>
                <a:sym typeface="Arial"/>
              </a:rPr>
              <a:t>Levene’s</a:t>
            </a:r>
            <a:r>
              <a:rPr lang="en-US" sz="1100" b="0" i="0" u="none" strike="noStrike" cap="none" dirty="0">
                <a:solidFill>
                  <a:srgbClr val="000000"/>
                </a:solidFill>
                <a:effectLst/>
                <a:latin typeface="Arial"/>
                <a:ea typeface="Arial"/>
                <a:cs typeface="Arial"/>
                <a:sym typeface="Arial"/>
              </a:rPr>
              <a:t> test indicated heterogeneity of variances across groups, F(37, 58) = 2.60, </a:t>
            </a:r>
            <a:r>
              <a:rPr lang="en-US" sz="1100" b="0" i="1" u="none" strike="noStrike" cap="none" dirty="0">
                <a:solidFill>
                  <a:srgbClr val="000000"/>
                </a:solidFill>
                <a:effectLst/>
                <a:latin typeface="Arial"/>
                <a:ea typeface="Arial"/>
                <a:cs typeface="Arial"/>
                <a:sym typeface="Arial"/>
              </a:rPr>
              <a:t>p</a:t>
            </a:r>
            <a:r>
              <a:rPr lang="en-US" sz="1100" b="0" i="0" u="none" strike="noStrike" cap="none" dirty="0">
                <a:solidFill>
                  <a:srgbClr val="000000"/>
                </a:solidFill>
                <a:effectLst/>
                <a:latin typeface="Arial"/>
                <a:ea typeface="Arial"/>
                <a:cs typeface="Arial"/>
                <a:sym typeface="Arial"/>
              </a:rPr>
              <a:t> = .001. However, as none of the socio-demographic predictors reached statistical significance in the GLM, no robust follow-up tests (e.g., Welch’s ANOVA) were pursued, as they would not change the conclusion.</a:t>
            </a:r>
          </a:p>
          <a:p>
            <a:pPr marL="171450" lvl="0" indent="-171450" algn="l" rtl="0">
              <a:spcBef>
                <a:spcPts val="0"/>
              </a:spcBef>
              <a:spcAft>
                <a:spcPts val="0"/>
              </a:spcAft>
            </a:pPr>
            <a:endParaRPr lang="en-US" dirty="0"/>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b="0" i="0" u="none" strike="noStrike" cap="none" dirty="0">
                <a:solidFill>
                  <a:srgbClr val="000000"/>
                </a:solidFill>
                <a:effectLst/>
                <a:latin typeface="Arial"/>
                <a:ea typeface="Arial"/>
                <a:cs typeface="Arial"/>
                <a:sym typeface="Arial"/>
              </a:rPr>
              <a:t>In the adjusted GLM, there were no main effects for any predictor (p values &gt; .05), and all partial η² values were negligible (&lt; .02), indicating no meaningful influence of these characteristics on baseline PTSD severity.</a:t>
            </a:r>
          </a:p>
          <a:p>
            <a:pPr marL="171450" lvl="0" indent="-171450" algn="l" rtl="0">
              <a:spcBef>
                <a:spcPts val="0"/>
              </a:spcBef>
              <a:spcAft>
                <a:spcPts val="0"/>
              </a:spcAft>
            </a:pPr>
            <a:endParaRPr lang="en-US" dirty="0"/>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None of the socio-demographic variables were significantly associated with PTSD severity at baseline, and effect sizes were negligible, suggesting no meaningful influence of these characteristics on symptom severity in this sample.</a:t>
            </a:r>
            <a:r>
              <a:rPr lang="en-US" dirty="0">
                <a:effectLst/>
              </a:rPr>
              <a:t> </a:t>
            </a:r>
            <a:endParaRPr dirty="0"/>
          </a:p>
        </p:txBody>
      </p:sp>
    </p:spTree>
    <p:extLst>
      <p:ext uri="{BB962C8B-B14F-4D97-AF65-F5344CB8AC3E}">
        <p14:creationId xmlns:p14="http://schemas.microsoft.com/office/powerpoint/2010/main" val="14702228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sz="1100" dirty="0">
                <a:solidFill>
                  <a:srgbClr val="263248"/>
                </a:solidFill>
                <a:latin typeface="Roboto Condensed Light"/>
                <a:ea typeface="Roboto Condensed Light"/>
                <a:sym typeface="Roboto Condensed Light"/>
              </a:rPr>
              <a:t>Within this population, factors such as age, gender, marital status, professional role, ICU experience length, and working hours may have limited influence on the initial severity of PTSD symptoms. </a:t>
            </a:r>
          </a:p>
          <a:p>
            <a:pPr marL="171450" lvl="0" indent="-171450" algn="l" rtl="0">
              <a:spcBef>
                <a:spcPts val="0"/>
              </a:spcBef>
              <a:spcAft>
                <a:spcPts val="0"/>
              </a:spcAft>
            </a:pPr>
            <a:endParaRPr lang="en-US" sz="1100" dirty="0">
              <a:solidFill>
                <a:srgbClr val="263248"/>
              </a:solidFill>
              <a:latin typeface="Roboto Condensed Light"/>
              <a:ea typeface="Roboto Condensed Light"/>
              <a:sym typeface="Roboto Condensed Light"/>
            </a:endParaRPr>
          </a:p>
          <a:p>
            <a:pPr marL="171450" lvl="0" indent="-171450" algn="l" rtl="0">
              <a:spcBef>
                <a:spcPts val="0"/>
              </a:spcBef>
              <a:spcAft>
                <a:spcPts val="0"/>
              </a:spcAft>
            </a:pPr>
            <a:r>
              <a:rPr lang="en-US" sz="1100" dirty="0">
                <a:solidFill>
                  <a:srgbClr val="263248"/>
                </a:solidFill>
                <a:latin typeface="Roboto Condensed Light"/>
                <a:ea typeface="Roboto Condensed Light"/>
                <a:sym typeface="Roboto Condensed Light"/>
              </a:rPr>
              <a:t>Attention may be better directed toward other determinants, such as clinical presentation, type or intensity of trauma exposure, and workplace or psychosocial support systems. </a:t>
            </a:r>
          </a:p>
          <a:p>
            <a:pPr marL="171450" lvl="0" indent="-171450" algn="l" rtl="0">
              <a:spcBef>
                <a:spcPts val="0"/>
              </a:spcBef>
              <a:spcAft>
                <a:spcPts val="0"/>
              </a:spcAft>
            </a:pPr>
            <a:endParaRPr lang="en-US" sz="1100" dirty="0">
              <a:solidFill>
                <a:srgbClr val="263248"/>
              </a:solidFill>
              <a:latin typeface="Roboto Condensed Light"/>
              <a:ea typeface="Roboto Condensed Light"/>
              <a:sym typeface="Roboto Condensed Light"/>
            </a:endParaRPr>
          </a:p>
          <a:p>
            <a:pPr marL="171450" lvl="0" indent="-171450" algn="l" rtl="0">
              <a:spcBef>
                <a:spcPts val="0"/>
              </a:spcBef>
              <a:spcAft>
                <a:spcPts val="0"/>
              </a:spcAft>
            </a:pPr>
            <a:r>
              <a:rPr lang="en-US" sz="1100" dirty="0">
                <a:solidFill>
                  <a:srgbClr val="263248"/>
                </a:solidFill>
                <a:latin typeface="Roboto Condensed Light"/>
                <a:ea typeface="Roboto Condensed Light"/>
                <a:sym typeface="Roboto Condensed Light"/>
              </a:rPr>
              <a:t>Given the significant </a:t>
            </a:r>
            <a:r>
              <a:rPr lang="en-US" sz="1100" dirty="0" err="1">
                <a:solidFill>
                  <a:srgbClr val="263248"/>
                </a:solidFill>
                <a:latin typeface="Roboto Condensed Light"/>
                <a:ea typeface="Roboto Condensed Light"/>
                <a:sym typeface="Roboto Condensed Light"/>
              </a:rPr>
              <a:t>Levene’s</a:t>
            </a:r>
            <a:r>
              <a:rPr lang="en-US" sz="1100" dirty="0">
                <a:solidFill>
                  <a:srgbClr val="263248"/>
                </a:solidFill>
                <a:latin typeface="Roboto Condensed Light"/>
                <a:ea typeface="Roboto Condensed Light"/>
                <a:sym typeface="Roboto Condensed Light"/>
              </a:rPr>
              <a:t> test indicating heterogeneity of variances, results should be interpreted with caution. Additionally, the possibility of small but undetected effects cannot be ruled out due to sample size limitations. </a:t>
            </a:r>
            <a:endParaRPr lang="en-US" dirty="0"/>
          </a:p>
        </p:txBody>
      </p:sp>
    </p:spTree>
    <p:extLst>
      <p:ext uri="{BB962C8B-B14F-4D97-AF65-F5344CB8AC3E}">
        <p14:creationId xmlns:p14="http://schemas.microsoft.com/office/powerpoint/2010/main" val="2407613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45812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Continuous scores don’t match the operational definitions in the protocol; they would interfere with interpretability for clinical and policy audiences.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Means/SDs are inappropriate for categorical classifications; means would be meaningless in this context. Percentages better convey the proportion affected.</a:t>
            </a:r>
            <a:endParaRPr dirty="0"/>
          </a:p>
        </p:txBody>
      </p:sp>
    </p:spTree>
    <p:extLst>
      <p:ext uri="{BB962C8B-B14F-4D97-AF65-F5344CB8AC3E}">
        <p14:creationId xmlns:p14="http://schemas.microsoft.com/office/powerpoint/2010/main" val="1176859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lvl="0" indent="-171450" algn="l" rtl="0">
              <a:spcBef>
                <a:spcPts val="0"/>
              </a:spcBef>
              <a:spcAft>
                <a:spcPts val="0"/>
              </a:spcAft>
            </a:pPr>
            <a:r>
              <a:rPr lang="en-US" dirty="0"/>
              <a:t>At baseline, a substantial majority of ICU healthcare professionals met the screening criteria for both depression (82.8%) and anxiety (85.1%), indicating a high psychological symptom burden in this sample.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Burnout classification revealed that 80.6% were at risk, with 6.0% meeting full burnout criteria, and only 13.4% showing no burnout indicators.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These findings suggest that psychological distress and occupational strain were prevalent across the workforce prior to intervention.</a:t>
            </a:r>
            <a:endParaRPr dirty="0"/>
          </a:p>
        </p:txBody>
      </p:sp>
    </p:spTree>
    <p:extLst>
      <p:ext uri="{BB962C8B-B14F-4D97-AF65-F5344CB8AC3E}">
        <p14:creationId xmlns:p14="http://schemas.microsoft.com/office/powerpoint/2010/main" val="29610999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Logistic regression (binary outcome) could also be used, but it was rejected at this stage to maintain simplicity and transparency in initial association testing. </a:t>
            </a:r>
          </a:p>
          <a:p>
            <a:pPr marL="628650" lvl="1" indent="-171450" algn="l" rtl="0">
              <a:spcBef>
                <a:spcPts val="0"/>
              </a:spcBef>
              <a:spcAft>
                <a:spcPts val="0"/>
              </a:spcAft>
            </a:pPr>
            <a:r>
              <a:rPr lang="en-US" dirty="0"/>
              <a:t>Regression was reserved for possible adjusted analyses later.</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t-tests or ANOVA were not suitable since PTSD status and comorbidities are both categorical, not continuous.</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2066164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No statistically significant associations were observed between PTSD status and depression, anxiety, or burnout at baseline (all p &gt; .05). </a:t>
            </a:r>
          </a:p>
          <a:p>
            <a:pPr marL="628650" lvl="1" indent="-171450" algn="l" rtl="0">
              <a:spcBef>
                <a:spcPts val="0"/>
              </a:spcBef>
              <a:spcAft>
                <a:spcPts val="0"/>
              </a:spcAft>
            </a:pPr>
            <a:r>
              <a:rPr lang="en-US" dirty="0"/>
              <a:t>Effect sizes were small in magnitude, suggesting weak associations between PTSD and these comorbidities in this sample.</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Although the majority of participants with PTSD also had depression, anxiety, or were at risk for burnout, these patterns did not differ significantly from those without PTSD. </a:t>
            </a:r>
          </a:p>
          <a:p>
            <a:pPr marL="628650" lvl="1" indent="-171450" algn="l" rtl="0">
              <a:spcBef>
                <a:spcPts val="0"/>
              </a:spcBef>
              <a:spcAft>
                <a:spcPts val="0"/>
              </a:spcAft>
            </a:pPr>
            <a:r>
              <a:rPr lang="en-US" dirty="0"/>
              <a:t>This may be partly due to the small number of participants classified as “PTSD unlikely” (n = 7), which limits statistical power to detect meaningful differences.</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2619371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These levels of distress can impair job performance, increase turnover, and impact patient care quality, suggesting a need for systemic workplace wellness programs.</a:t>
            </a:r>
            <a:r>
              <a:rPr lang="en-US" dirty="0">
                <a:effectLst/>
              </a:rPr>
              <a:t> </a:t>
            </a:r>
          </a:p>
          <a:p>
            <a:pPr marL="171450" lvl="0" indent="-171450" algn="l" rtl="0">
              <a:spcBef>
                <a:spcPts val="0"/>
              </a:spcBef>
              <a:spcAft>
                <a:spcPts val="0"/>
              </a:spcAft>
            </a:pPr>
            <a:endParaRPr lang="en-US" dirty="0">
              <a:effectLst/>
            </a:endParaRPr>
          </a:p>
          <a:p>
            <a:pPr marL="171450" lvl="0" indent="-171450" algn="l" rtl="0">
              <a:spcBef>
                <a:spcPts val="0"/>
              </a:spcBef>
              <a:spcAft>
                <a:spcPts val="0"/>
              </a:spcAft>
            </a:pPr>
            <a:r>
              <a:rPr lang="en-US" dirty="0"/>
              <a:t>Future studies should recruit larger samples or use longitudinal designs to better detect possible interactions between PTSD and other forms of psychological distress. </a:t>
            </a:r>
          </a:p>
        </p:txBody>
      </p:sp>
    </p:spTree>
    <p:extLst>
      <p:ext uri="{BB962C8B-B14F-4D97-AF65-F5344CB8AC3E}">
        <p14:creationId xmlns:p14="http://schemas.microsoft.com/office/powerpoint/2010/main" val="3115337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16763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Frequencies/percentages would not have been suitable here because the PCL-5 is a continuous scale, and </a:t>
            </a:r>
            <a:r>
              <a:rPr lang="en-US" dirty="0" err="1"/>
              <a:t>summarising</a:t>
            </a:r>
            <a:r>
              <a:rPr lang="en-US" dirty="0"/>
              <a:t> it categorically would lose valuable variation.</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Median/interquartile range (IQR) could have been reported if the data were highly skewed, but inspection showed approximate normality.</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1283088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a:t>
            </a:r>
            <a:r>
              <a:rPr lang="en-US" dirty="0"/>
              <a:t> </a:t>
            </a:r>
          </a:p>
          <a:p>
            <a:pPr marL="171450" lvl="0" indent="-171450" algn="l" rtl="0">
              <a:spcBef>
                <a:spcPts val="0"/>
              </a:spcBef>
              <a:spcAft>
                <a:spcPts val="0"/>
              </a:spcAft>
            </a:pPr>
            <a:r>
              <a:rPr lang="en-US" dirty="0"/>
              <a:t>The control group recorded higher mean scores than the treatment group at baseline, with both exceeding the cut-off for a probable PTSD diagnosis.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At midline, scores remained stable for the control group but decrease to below clinical threshold levels for the treatment group.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Control scores remained unchanged from baseline at </a:t>
            </a:r>
            <a:r>
              <a:rPr lang="en-US" dirty="0" err="1"/>
              <a:t>endline</a:t>
            </a:r>
            <a:r>
              <a:rPr lang="en-US" dirty="0"/>
              <a:t> but reduced further for the treatment group.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The descriptive results suggest a substantial and sustained reduction in PTSD symptom severity in the treatment group following EMDR therapy, with scores decreasing well below the clinical cut-off for probable PTSD by midline and continuing to decline at </a:t>
            </a:r>
            <a:r>
              <a:rPr lang="en-US" sz="1100" b="0" i="0" u="none" strike="noStrike" cap="none" dirty="0" err="1">
                <a:solidFill>
                  <a:srgbClr val="000000"/>
                </a:solidFill>
                <a:effectLst/>
                <a:latin typeface="Arial"/>
                <a:ea typeface="Arial"/>
                <a:cs typeface="Arial"/>
                <a:sym typeface="Arial"/>
              </a:rPr>
              <a:t>endline</a:t>
            </a:r>
            <a:r>
              <a:rPr lang="en-US" sz="1100" b="0" i="0" u="none" strike="noStrike" cap="none" dirty="0">
                <a:solidFill>
                  <a:srgbClr val="000000"/>
                </a:solidFill>
                <a:effectLst/>
                <a:latin typeface="Arial"/>
                <a:ea typeface="Arial"/>
                <a:cs typeface="Arial"/>
                <a:sym typeface="Arial"/>
              </a:rPr>
              <a:t>. </a:t>
            </a:r>
          </a:p>
          <a:p>
            <a:pPr marL="171450" lvl="0" indent="-171450" algn="l" rtl="0">
              <a:spcBef>
                <a:spcPts val="0"/>
              </a:spcBef>
              <a:spcAft>
                <a:spcPts val="0"/>
              </a:spcAft>
            </a:pPr>
            <a:endParaRPr lang="en-US" sz="1100" b="0" i="0" u="none" strike="noStrike" cap="none" dirty="0">
              <a:solidFill>
                <a:srgbClr val="000000"/>
              </a:solidFill>
              <a:effectLst/>
              <a:latin typeface="Arial"/>
              <a:ea typeface="Arial"/>
              <a:cs typeface="Arial"/>
              <a:sym typeface="Arial"/>
            </a:endParaRPr>
          </a:p>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These findings provide preliminary descriptive evidence for the short- and long-term effectiveness of EMDR in reducing PTSD symptoms among ICU healthcare professionals.</a:t>
            </a:r>
            <a:r>
              <a:rPr lang="en-US" dirty="0">
                <a:effectLst/>
              </a:rPr>
              <a:t> </a:t>
            </a:r>
            <a:endParaRPr lang="en-US" dirty="0"/>
          </a:p>
        </p:txBody>
      </p:sp>
    </p:spTree>
    <p:extLst>
      <p:ext uri="{BB962C8B-B14F-4D97-AF65-F5344CB8AC3E}">
        <p14:creationId xmlns:p14="http://schemas.microsoft.com/office/powerpoint/2010/main" val="2055153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Multiple independent t-tests for each time point would increase the risk of Type I error (concluding there’s a significant difference falsely) and ignore within-subject correlations (which can cause underestimating or overestimating treatment effects).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Mixed models could have been used but would have been unnecessarily complex for the dataset size and structure.</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28211303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Repeated-measures ANOVA </a:t>
            </a:r>
          </a:p>
          <a:p>
            <a:pPr marL="628650" lvl="1" indent="-171450" algn="l" rtl="0">
              <a:spcBef>
                <a:spcPts val="0"/>
              </a:spcBef>
              <a:spcAft>
                <a:spcPts val="0"/>
              </a:spcAft>
            </a:pPr>
            <a:r>
              <a:rPr lang="en-US" dirty="0"/>
              <a:t>It showed a statistically significant main effect of time, F(2, 99) = 459.91, p &lt; .001, </a:t>
            </a:r>
            <a:r>
              <a:rPr lang="el-GR" dirty="0"/>
              <a:t>η²ₚ = .903, </a:t>
            </a:r>
            <a:r>
              <a:rPr lang="en-US" dirty="0"/>
              <a:t>indicating that PTSD scores changed significantly over the three time points. </a:t>
            </a:r>
          </a:p>
          <a:p>
            <a:pPr marL="628650" lvl="1" indent="-171450" algn="l" rtl="0">
              <a:spcBef>
                <a:spcPts val="0"/>
              </a:spcBef>
              <a:spcAft>
                <a:spcPts val="0"/>
              </a:spcAft>
            </a:pPr>
            <a:r>
              <a:rPr lang="en-US" dirty="0"/>
              <a:t>There was also a significant time × group interaction, F(2, 99) = 402.66, p &lt; .001, </a:t>
            </a:r>
            <a:r>
              <a:rPr lang="el-GR" dirty="0"/>
              <a:t>η²ₚ = .891, </a:t>
            </a:r>
            <a:r>
              <a:rPr lang="en-US" dirty="0"/>
              <a:t>showing that the change over time differed between the treatment and control groups. </a:t>
            </a:r>
          </a:p>
          <a:p>
            <a:pPr marL="628650" lvl="1" indent="-171450" algn="l" rtl="0">
              <a:spcBef>
                <a:spcPts val="0"/>
              </a:spcBef>
              <a:spcAft>
                <a:spcPts val="0"/>
              </a:spcAft>
            </a:pPr>
            <a:r>
              <a:rPr lang="en-US" dirty="0"/>
              <a:t>The between-subjects effect for group was also significant, F(1, 100) = 622.32, p &lt; .001, </a:t>
            </a:r>
            <a:r>
              <a:rPr lang="el-GR" dirty="0"/>
              <a:t>η²ₚ = .862, </a:t>
            </a:r>
            <a:r>
              <a:rPr lang="en-US" dirty="0"/>
              <a:t>with the treatment group having lower average PTSD scores across time.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Bonferroni-Adjusted Pairwise Comparisons </a:t>
            </a:r>
          </a:p>
          <a:p>
            <a:pPr marL="628650" lvl="1" indent="-171450" algn="l" rtl="0">
              <a:spcBef>
                <a:spcPts val="0"/>
              </a:spcBef>
              <a:spcAft>
                <a:spcPts val="0"/>
              </a:spcAft>
            </a:pPr>
            <a:r>
              <a:rPr lang="en-US" dirty="0"/>
              <a:t>These revealed significant reductions in PTSD scores from baseline to midline (M diff = 11.36, p &lt; .001) and from baseline to </a:t>
            </a:r>
            <a:r>
              <a:rPr lang="en-US" dirty="0" err="1"/>
              <a:t>endline</a:t>
            </a:r>
            <a:r>
              <a:rPr lang="en-US" dirty="0"/>
              <a:t> (M diff = 16.54, p &lt; .001). </a:t>
            </a:r>
          </a:p>
          <a:p>
            <a:pPr marL="628650" lvl="1" indent="-171450" algn="l" rtl="0">
              <a:spcBef>
                <a:spcPts val="0"/>
              </a:spcBef>
              <a:spcAft>
                <a:spcPts val="0"/>
              </a:spcAft>
            </a:pPr>
            <a:r>
              <a:rPr lang="en-US" dirty="0"/>
              <a:t>The reduction from midline to </a:t>
            </a:r>
            <a:r>
              <a:rPr lang="en-US" dirty="0" err="1"/>
              <a:t>endline</a:t>
            </a:r>
            <a:r>
              <a:rPr lang="en-US" dirty="0"/>
              <a:t> was also significant (M diff = 5.18, p &lt; .001). </a:t>
            </a:r>
          </a:p>
        </p:txBody>
      </p:sp>
    </p:spTree>
    <p:extLst>
      <p:ext uri="{BB962C8B-B14F-4D97-AF65-F5344CB8AC3E}">
        <p14:creationId xmlns:p14="http://schemas.microsoft.com/office/powerpoint/2010/main" val="11564504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Alternatives considered: </a:t>
            </a:r>
          </a:p>
          <a:p>
            <a:pPr marL="171450" lvl="0" indent="-171450" algn="l" rtl="0">
              <a:spcBef>
                <a:spcPts val="0"/>
              </a:spcBef>
              <a:spcAft>
                <a:spcPts val="0"/>
              </a:spcAft>
            </a:pPr>
            <a:r>
              <a:rPr lang="en-US" dirty="0"/>
              <a:t>Independent samples t-test: less statistical power and no adjustment for baseline differences.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Analysis of change scores: can be less efficient and sensitive to regression-to-the-mean effects (you wouldn’t be able to distinguish between genuine and random effects). </a:t>
            </a:r>
          </a:p>
        </p:txBody>
      </p:sp>
    </p:spTree>
    <p:extLst>
      <p:ext uri="{BB962C8B-B14F-4D97-AF65-F5344CB8AC3E}">
        <p14:creationId xmlns:p14="http://schemas.microsoft.com/office/powerpoint/2010/main" val="17495692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The adjusted means indicate that, after controlling for baseline PTSD, the treatment group had a substantially lower PTSD score (M = 20.30, SE = 0.66) than the control group (M = 42.32, SE = 0.66).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ANCOVA revealed a statistically significant main effect of group, F(1, 113) = 517.57, p &lt; .001, </a:t>
            </a:r>
            <a:r>
              <a:rPr lang="el-GR" dirty="0"/>
              <a:t>η²ₚ = .821, </a:t>
            </a:r>
            <a:r>
              <a:rPr lang="en-US" dirty="0"/>
              <a:t>indicating that the EMDR intervention was associated with markedly lower PTSD scores at midline compared to the control condition.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Pairwise comparisons confirmed that the treatment group’s adjusted mean was 22.02 points lower than that of the control group (p &lt; .001), representing a clinically meaningful difference well above the 10-point reduction threshold for significant change on the PCL-5.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treatment group experienced a large and statistically significant reduction in PTSD symptoms at midline compared to the control group, even after controlling for baseline differences.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effect size (</a:t>
            </a:r>
            <a:r>
              <a:rPr lang="el-GR" dirty="0"/>
              <a:t>η²ₚ = .821) </a:t>
            </a:r>
            <a:r>
              <a:rPr lang="en-US" dirty="0"/>
              <a:t>is exceptionally large, indicating that the intervention accounted for over 82% of the variance in midline PTSD scores after adjusting for baseline severity.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This effect represents not only statistical significance but also substantial clinical benefit, as the mean reduction far exceeded the minimum 10-point PCL-5 threshold for meaningful improvement.</a:t>
            </a:r>
            <a:endParaRPr dirty="0"/>
          </a:p>
        </p:txBody>
      </p:sp>
    </p:spTree>
    <p:extLst>
      <p:ext uri="{BB962C8B-B14F-4D97-AF65-F5344CB8AC3E}">
        <p14:creationId xmlns:p14="http://schemas.microsoft.com/office/powerpoint/2010/main" val="33921612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Alternatives considered: </a:t>
            </a:r>
          </a:p>
          <a:p>
            <a:pPr marL="171450" lvl="0" indent="-171450" algn="l" rtl="0">
              <a:spcBef>
                <a:spcPts val="0"/>
              </a:spcBef>
              <a:spcAft>
                <a:spcPts val="0"/>
              </a:spcAft>
            </a:pPr>
            <a:r>
              <a:rPr lang="en-US" dirty="0"/>
              <a:t>Independent samples t-test: less statistical power and no adjustment for baseline differences.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Analysis of change scores: can be less efficient and sensitive to regression-to-the-mean effects (you wouldn’t be able to distinguish between genuine and random effects).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63623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The adjusted means indicate that, after controlling for baseline PTSD, the treatment group had a markedly lower PTSD score (M = 9.42, SE = 0.66) compared to the control group (M = 42.62, SE = 0.66).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ANCOVA revealed a statistically significant main effect of group, F(1, 99) = 1191.88, p &lt; .001, </a:t>
            </a:r>
            <a:r>
              <a:rPr lang="el-GR" dirty="0"/>
              <a:t>η²ₚ = .923, </a:t>
            </a:r>
            <a:r>
              <a:rPr lang="en-US" dirty="0"/>
              <a:t>indicating that EMDR was associated with dramatically lower PTSD scores at the 3-month follow-up compared to the control condition.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Pairwise comparisons confirmed that the treatment group’s adjusted mean was 33.20 points lower than the control group (p &lt; .001), representing a clinically massive difference well above the 10-point reduction threshold for meaningful change on the PCL-5. </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results indicate that the treatment group maintained and even deepened their PTSD symptom reductions over the follow-up period. After controlling for baseline severity, the treatment effect size (</a:t>
            </a:r>
            <a:r>
              <a:rPr lang="el-GR" dirty="0"/>
              <a:t>η²ₚ = .923) </a:t>
            </a:r>
            <a:r>
              <a:rPr lang="en-US" dirty="0"/>
              <a:t>was extremely large, explaining more than 92% of the variance in </a:t>
            </a:r>
            <a:r>
              <a:rPr lang="en-US" dirty="0" err="1"/>
              <a:t>endline</a:t>
            </a:r>
            <a:r>
              <a:rPr lang="en-US" dirty="0"/>
              <a:t> PTSD scores.</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This demonstrates that the substantial benefits of EMDR observed at midline were sustained over time, with participants continuing to report PTSD symptom levels far below the clinical threshold.</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41894599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US" sz="1100" b="0" i="0" u="none" strike="noStrike" cap="none" dirty="0">
                <a:solidFill>
                  <a:srgbClr val="000000"/>
                </a:solidFill>
                <a:effectLst/>
                <a:latin typeface="Arial"/>
                <a:ea typeface="Arial"/>
                <a:cs typeface="Arial"/>
                <a:sym typeface="Arial"/>
              </a:rPr>
              <a:t>Alternative methods considered:</a:t>
            </a:r>
          </a:p>
          <a:p>
            <a:pPr lvl="1"/>
            <a:r>
              <a:rPr lang="en-US" sz="1100" b="0" i="0" u="none" strike="noStrike" cap="none" dirty="0">
                <a:solidFill>
                  <a:srgbClr val="000000"/>
                </a:solidFill>
                <a:effectLst/>
                <a:latin typeface="Arial"/>
                <a:ea typeface="Arial"/>
                <a:cs typeface="Arial"/>
                <a:sym typeface="Arial"/>
              </a:rPr>
              <a:t>Means and SDs — rejected because they are only appropriate for continuous variables (e.g., age as a number), while the study used age and similar variables in grouped categories.</a:t>
            </a:r>
          </a:p>
          <a:p>
            <a:pPr lvl="1"/>
            <a:r>
              <a:rPr lang="en-US" sz="1100" b="0" i="0" u="none" strike="noStrike" cap="none" dirty="0">
                <a:solidFill>
                  <a:srgbClr val="000000"/>
                </a:solidFill>
                <a:effectLst/>
                <a:latin typeface="Arial"/>
                <a:ea typeface="Arial"/>
                <a:cs typeface="Arial"/>
                <a:sym typeface="Arial"/>
              </a:rPr>
              <a:t>Graphs only — rejected as a primary method because they are less concise for statistical reporting; tables were preferred for clarity. </a:t>
            </a:r>
          </a:p>
        </p:txBody>
      </p:sp>
    </p:spTree>
    <p:extLst>
      <p:ext uri="{BB962C8B-B14F-4D97-AF65-F5344CB8AC3E}">
        <p14:creationId xmlns:p14="http://schemas.microsoft.com/office/powerpoint/2010/main" val="21821148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Alternative methods considered: </a:t>
            </a:r>
          </a:p>
          <a:p>
            <a:pPr marL="171450" lvl="0" indent="-171450" algn="l" rtl="0">
              <a:spcBef>
                <a:spcPts val="0"/>
              </a:spcBef>
              <a:spcAft>
                <a:spcPts val="0"/>
              </a:spcAft>
            </a:pPr>
            <a:r>
              <a:rPr lang="en-US" dirty="0"/>
              <a:t>Logistic regression could have been used for adjusted remission comparisons, but the primary goal here was to present clear, unadjusted group differences for clinical interpretation.</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Reporting only mean score changes would not capture the clinically relevant outcome of remission.</a:t>
            </a:r>
          </a:p>
          <a:p>
            <a:pPr marL="171450" lvl="0" indent="-171450" algn="l" rtl="0">
              <a:spcBef>
                <a:spcPts val="0"/>
              </a:spcBef>
              <a:spcAft>
                <a:spcPts val="0"/>
              </a:spcAft>
            </a:pPr>
            <a:endParaRPr lang="en-US" dirty="0"/>
          </a:p>
          <a:p>
            <a:pPr marL="171450" lvl="0" indent="-171450" algn="l" rtl="0">
              <a:spcBef>
                <a:spcPts val="0"/>
              </a:spcBef>
              <a:spcAft>
                <a:spcPts val="0"/>
              </a:spcAft>
            </a:pPr>
            <a:endParaRPr dirty="0"/>
          </a:p>
        </p:txBody>
      </p:sp>
    </p:spTree>
    <p:extLst>
      <p:ext uri="{BB962C8B-B14F-4D97-AF65-F5344CB8AC3E}">
        <p14:creationId xmlns:p14="http://schemas.microsoft.com/office/powerpoint/2010/main" val="41459321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Results: </a:t>
            </a:r>
          </a:p>
          <a:p>
            <a:pPr marL="171450" lvl="0" indent="-171450" algn="l" rtl="0">
              <a:spcBef>
                <a:spcPts val="0"/>
              </a:spcBef>
              <a:spcAft>
                <a:spcPts val="0"/>
              </a:spcAft>
            </a:pPr>
            <a:r>
              <a:rPr lang="en-US" dirty="0"/>
              <a:t>The remission data highlight the clinical relevance of these changes: nearly all participants in the treatment group achieved clinically significant symptom reduction by midline, and these gains were sustained or improved at </a:t>
            </a:r>
            <a:r>
              <a:rPr lang="en-US" dirty="0" err="1"/>
              <a:t>endline</a:t>
            </a:r>
            <a:r>
              <a:rPr lang="en-US" dirty="0"/>
              <a:t>.</a:t>
            </a:r>
          </a:p>
          <a:p>
            <a:pPr marL="171450" lvl="0" indent="-171450" algn="l" rtl="0">
              <a:spcBef>
                <a:spcPts val="0"/>
              </a:spcBef>
              <a:spcAft>
                <a:spcPts val="0"/>
              </a:spcAft>
            </a:pPr>
            <a:endParaRPr lang="en-US" dirty="0"/>
          </a:p>
          <a:p>
            <a:pPr marL="171450" lvl="0" indent="-171450" algn="l" rtl="0">
              <a:spcBef>
                <a:spcPts val="0"/>
              </a:spcBef>
              <a:spcAft>
                <a:spcPts val="0"/>
              </a:spcAft>
            </a:pPr>
            <a:r>
              <a:rPr lang="en-US" dirty="0"/>
              <a:t>The lack of change in the control group underscores that the improvements were unlikely due to natural recovery or placebo effects, but rather to the EMDR intervention itself. </a:t>
            </a:r>
          </a:p>
        </p:txBody>
      </p:sp>
    </p:spTree>
    <p:extLst>
      <p:ext uri="{BB962C8B-B14F-4D97-AF65-F5344CB8AC3E}">
        <p14:creationId xmlns:p14="http://schemas.microsoft.com/office/powerpoint/2010/main" val="13542032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1100" dirty="0">
                <a:solidFill>
                  <a:srgbClr val="263248"/>
                </a:solidFill>
                <a:latin typeface="Roboto Condensed Light"/>
                <a:ea typeface="Roboto Condensed Light"/>
                <a:sym typeface="Roboto Condensed Light"/>
              </a:rPr>
              <a:t>Findings support the inclusion of EMDR in occupational health programs for ICU staff, especially in regions with limited access to mental health resources, as benefits appear even in the short term. </a:t>
            </a:r>
          </a:p>
          <a:p>
            <a:pPr marL="171450" lvl="0" indent="-171450" algn="l" rtl="0">
              <a:spcBef>
                <a:spcPts val="0"/>
              </a:spcBef>
              <a:spcAft>
                <a:spcPts val="0"/>
              </a:spcAft>
            </a:pPr>
            <a:endParaRPr lang="en-US" dirty="0"/>
          </a:p>
          <a:p>
            <a:pPr marL="171450" marR="0" lvl="0" indent="-1714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 They also </a:t>
            </a:r>
            <a:r>
              <a:rPr lang="en-US" sz="1100" b="0" i="0" u="none" strike="noStrike" cap="none" dirty="0">
                <a:solidFill>
                  <a:srgbClr val="000000"/>
                </a:solidFill>
                <a:effectLst/>
                <a:latin typeface="Arial"/>
                <a:ea typeface="Arial"/>
                <a:cs typeface="Arial"/>
                <a:sym typeface="Arial"/>
              </a:rPr>
              <a:t>strengthen the case for integrating EMDR into mental health protocols for trauma-exposed professionals in resource-limited healthcare systems.</a:t>
            </a:r>
          </a:p>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8301559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65989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23820387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23"/>
        <p:cNvGrpSpPr/>
        <p:nvPr/>
      </p:nvGrpSpPr>
      <p:grpSpPr>
        <a:xfrm>
          <a:off x="0" y="0"/>
          <a:ext cx="0" cy="0"/>
          <a:chOff x="0" y="0"/>
          <a:chExt cx="0" cy="0"/>
        </a:xfrm>
      </p:grpSpPr>
      <p:sp>
        <p:nvSpPr>
          <p:cNvPr id="24" name="Google Shape;24;p3"/>
          <p:cNvSpPr/>
          <p:nvPr/>
        </p:nvSpPr>
        <p:spPr>
          <a:xfrm>
            <a:off x="5697214" y="2635519"/>
            <a:ext cx="889200" cy="2964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25" name="Google Shape;25;p3"/>
          <p:cNvGrpSpPr/>
          <p:nvPr/>
        </p:nvGrpSpPr>
        <p:grpSpPr>
          <a:xfrm>
            <a:off x="0" y="-7088"/>
            <a:ext cx="8661398" cy="5150588"/>
            <a:chOff x="0" y="-7088"/>
            <a:chExt cx="8661398" cy="5150588"/>
          </a:xfrm>
        </p:grpSpPr>
        <p:sp>
          <p:nvSpPr>
            <p:cNvPr id="26" name="Google Shape;26;p3"/>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28" name="Google Shape;28;p3"/>
          <p:cNvGrpSpPr/>
          <p:nvPr/>
        </p:nvGrpSpPr>
        <p:grpSpPr>
          <a:xfrm rot="10800000" flipH="1">
            <a:off x="-2" y="2924826"/>
            <a:ext cx="6589087" cy="2027268"/>
            <a:chOff x="-9894852" y="-4493254"/>
            <a:chExt cx="21200407" cy="6522740"/>
          </a:xfrm>
        </p:grpSpPr>
        <p:sp>
          <p:nvSpPr>
            <p:cNvPr id="29" name="Google Shape;29;p3"/>
            <p:cNvSpPr/>
            <p:nvPr/>
          </p:nvSpPr>
          <p:spPr>
            <a:xfrm>
              <a:off x="-9894852" y="-4493114"/>
              <a:ext cx="146853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31;p3"/>
          <p:cNvGrpSpPr/>
          <p:nvPr/>
        </p:nvGrpSpPr>
        <p:grpSpPr>
          <a:xfrm>
            <a:off x="6946842" y="4472723"/>
            <a:ext cx="2202830" cy="670795"/>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39;p3"/>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0" name="Google Shape;40;p3"/>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2000"/>
              <a:buNone/>
              <a:defRPr sz="2000">
                <a:solidFill>
                  <a:schemeClr val="accent5"/>
                </a:solidFill>
              </a:defRPr>
            </a:lvl1pPr>
            <a:lvl2pPr lvl="1" rtl="0">
              <a:spcBef>
                <a:spcPts val="1000"/>
              </a:spcBef>
              <a:spcAft>
                <a:spcPts val="0"/>
              </a:spcAft>
              <a:buClr>
                <a:schemeClr val="accent5"/>
              </a:buClr>
              <a:buSzPts val="2000"/>
              <a:buNone/>
              <a:defRPr sz="2000">
                <a:solidFill>
                  <a:schemeClr val="accent5"/>
                </a:solidFill>
              </a:defRPr>
            </a:lvl2pPr>
            <a:lvl3pPr lvl="2" rtl="0">
              <a:spcBef>
                <a:spcPts val="1000"/>
              </a:spcBef>
              <a:spcAft>
                <a:spcPts val="0"/>
              </a:spcAft>
              <a:buClr>
                <a:schemeClr val="accent5"/>
              </a:buClr>
              <a:buSzPts val="2000"/>
              <a:buNone/>
              <a:defRPr sz="2000">
                <a:solidFill>
                  <a:schemeClr val="accent5"/>
                </a:solidFill>
              </a:defRPr>
            </a:lvl3pPr>
            <a:lvl4pPr lvl="3" rtl="0">
              <a:spcBef>
                <a:spcPts val="1000"/>
              </a:spcBef>
              <a:spcAft>
                <a:spcPts val="0"/>
              </a:spcAft>
              <a:buClr>
                <a:schemeClr val="accent5"/>
              </a:buClr>
              <a:buSzPts val="2000"/>
              <a:buNone/>
              <a:defRPr sz="2000">
                <a:solidFill>
                  <a:schemeClr val="accent5"/>
                </a:solidFill>
              </a:defRPr>
            </a:lvl4pPr>
            <a:lvl5pPr lvl="4" rtl="0">
              <a:spcBef>
                <a:spcPts val="1000"/>
              </a:spcBef>
              <a:spcAft>
                <a:spcPts val="0"/>
              </a:spcAft>
              <a:buClr>
                <a:schemeClr val="accent5"/>
              </a:buClr>
              <a:buSzPts val="2000"/>
              <a:buNone/>
              <a:defRPr sz="2000">
                <a:solidFill>
                  <a:schemeClr val="accent5"/>
                </a:solidFill>
              </a:defRPr>
            </a:lvl5pPr>
            <a:lvl6pPr lvl="5" rtl="0">
              <a:spcBef>
                <a:spcPts val="1000"/>
              </a:spcBef>
              <a:spcAft>
                <a:spcPts val="0"/>
              </a:spcAft>
              <a:buClr>
                <a:schemeClr val="accent5"/>
              </a:buClr>
              <a:buSzPts val="2000"/>
              <a:buNone/>
              <a:defRPr sz="2000">
                <a:solidFill>
                  <a:schemeClr val="accent5"/>
                </a:solidFill>
              </a:defRPr>
            </a:lvl6pPr>
            <a:lvl7pPr lvl="6" rtl="0">
              <a:spcBef>
                <a:spcPts val="1000"/>
              </a:spcBef>
              <a:spcAft>
                <a:spcPts val="0"/>
              </a:spcAft>
              <a:buClr>
                <a:schemeClr val="accent5"/>
              </a:buClr>
              <a:buSzPts val="2000"/>
              <a:buNone/>
              <a:defRPr sz="2000">
                <a:solidFill>
                  <a:schemeClr val="accent5"/>
                </a:solidFill>
              </a:defRPr>
            </a:lvl7pPr>
            <a:lvl8pPr lvl="7" rtl="0">
              <a:spcBef>
                <a:spcPts val="1000"/>
              </a:spcBef>
              <a:spcAft>
                <a:spcPts val="0"/>
              </a:spcAft>
              <a:buClr>
                <a:schemeClr val="accent5"/>
              </a:buClr>
              <a:buSzPts val="2000"/>
              <a:buNone/>
              <a:defRPr sz="2000">
                <a:solidFill>
                  <a:schemeClr val="accent5"/>
                </a:solidFill>
              </a:defRPr>
            </a:lvl8pPr>
            <a:lvl9pPr lvl="8" rtl="0">
              <a:spcBef>
                <a:spcPts val="1000"/>
              </a:spcBef>
              <a:spcAft>
                <a:spcPts val="1000"/>
              </a:spcAft>
              <a:buClr>
                <a:schemeClr val="accent5"/>
              </a:buClr>
              <a:buSzPts val="2000"/>
              <a:buNone/>
              <a:defRPr sz="2000">
                <a:solidFill>
                  <a:schemeClr val="accent5"/>
                </a:solidFill>
              </a:defRPr>
            </a:lvl9pPr>
          </a:lstStyle>
          <a:p>
            <a:endParaRPr/>
          </a:p>
        </p:txBody>
      </p:sp>
      <p:sp>
        <p:nvSpPr>
          <p:cNvPr id="41" name="Google Shape;41;p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6946842" y="4472723"/>
            <a:ext cx="2202830" cy="670795"/>
            <a:chOff x="5575242" y="4472723"/>
            <a:chExt cx="2202830" cy="670795"/>
          </a:xfrm>
        </p:grpSpPr>
        <p:sp>
          <p:nvSpPr>
            <p:cNvPr id="63" name="Google Shape;63;p5"/>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5"/>
            <p:cNvGrpSpPr/>
            <p:nvPr/>
          </p:nvGrpSpPr>
          <p:grpSpPr>
            <a:xfrm flipH="1">
              <a:off x="5734850" y="4472723"/>
              <a:ext cx="2040837" cy="670795"/>
              <a:chOff x="1297954" y="330075"/>
              <a:chExt cx="5169293" cy="1699506"/>
            </a:xfrm>
          </p:grpSpPr>
          <p:sp>
            <p:nvSpPr>
              <p:cNvPr id="65" name="Google Shape;65;p5"/>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5"/>
            <p:cNvGrpSpPr/>
            <p:nvPr/>
          </p:nvGrpSpPr>
          <p:grpSpPr>
            <a:xfrm flipH="1">
              <a:off x="5578209" y="4646738"/>
              <a:ext cx="2199863" cy="304563"/>
              <a:chOff x="-5827153" y="330075"/>
              <a:chExt cx="12276019" cy="1699569"/>
            </a:xfrm>
          </p:grpSpPr>
          <p:sp>
            <p:nvSpPr>
              <p:cNvPr id="68" name="Google Shape;68;p5"/>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 name="Google Shape;70;p5"/>
          <p:cNvGrpSpPr/>
          <p:nvPr/>
        </p:nvGrpSpPr>
        <p:grpSpPr>
          <a:xfrm>
            <a:off x="-4" y="40"/>
            <a:ext cx="7072430" cy="1327315"/>
            <a:chOff x="-4" y="40"/>
            <a:chExt cx="7072430" cy="1327315"/>
          </a:xfrm>
        </p:grpSpPr>
        <p:sp>
          <p:nvSpPr>
            <p:cNvPr id="71" name="Google Shape;71;p5"/>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72" name="Google Shape;72;p5"/>
            <p:cNvGrpSpPr/>
            <p:nvPr/>
          </p:nvGrpSpPr>
          <p:grpSpPr>
            <a:xfrm rot="10800000" flipH="1">
              <a:off x="3" y="40"/>
              <a:ext cx="6756168" cy="1327315"/>
              <a:chOff x="-2168138" y="330075"/>
              <a:chExt cx="8650663" cy="1699506"/>
            </a:xfrm>
          </p:grpSpPr>
          <p:sp>
            <p:nvSpPr>
              <p:cNvPr id="73" name="Google Shape;73;p5"/>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4" name="Google Shape;74;p5"/>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75" name="Google Shape;75;p5"/>
            <p:cNvGrpSpPr/>
            <p:nvPr/>
          </p:nvGrpSpPr>
          <p:grpSpPr>
            <a:xfrm rot="10800000" flipH="1">
              <a:off x="-4" y="381007"/>
              <a:ext cx="7072430" cy="771744"/>
              <a:chOff x="-9092084" y="330075"/>
              <a:chExt cx="15574609" cy="1699501"/>
            </a:xfrm>
          </p:grpSpPr>
          <p:sp>
            <p:nvSpPr>
              <p:cNvPr id="76" name="Google Shape;76;p5"/>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7" name="Google Shape;77;p5"/>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grpSp>
        <p:nvGrpSpPr>
          <p:cNvPr id="125" name="Google Shape;125;p8"/>
          <p:cNvGrpSpPr/>
          <p:nvPr/>
        </p:nvGrpSpPr>
        <p:grpSpPr>
          <a:xfrm>
            <a:off x="-4" y="40"/>
            <a:ext cx="7072430" cy="1327315"/>
            <a:chOff x="-4" y="40"/>
            <a:chExt cx="7072430" cy="1327315"/>
          </a:xfrm>
        </p:grpSpPr>
        <p:sp>
          <p:nvSpPr>
            <p:cNvPr id="126" name="Google Shape;126;p8"/>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27" name="Google Shape;127;p8"/>
            <p:cNvGrpSpPr/>
            <p:nvPr/>
          </p:nvGrpSpPr>
          <p:grpSpPr>
            <a:xfrm rot="10800000" flipH="1">
              <a:off x="3" y="40"/>
              <a:ext cx="6756168" cy="1327315"/>
              <a:chOff x="-2168138" y="330075"/>
              <a:chExt cx="8650663" cy="1699506"/>
            </a:xfrm>
          </p:grpSpPr>
          <p:sp>
            <p:nvSpPr>
              <p:cNvPr id="128" name="Google Shape;128;p8"/>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29" name="Google Shape;129;p8"/>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30" name="Google Shape;130;p8"/>
            <p:cNvGrpSpPr/>
            <p:nvPr/>
          </p:nvGrpSpPr>
          <p:grpSpPr>
            <a:xfrm rot="10800000" flipH="1">
              <a:off x="-4" y="381007"/>
              <a:ext cx="7072430" cy="771744"/>
              <a:chOff x="-9092084" y="330075"/>
              <a:chExt cx="15574609" cy="1699501"/>
            </a:xfrm>
          </p:grpSpPr>
          <p:sp>
            <p:nvSpPr>
              <p:cNvPr id="131" name="Google Shape;131;p8"/>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32" name="Google Shape;132;p8"/>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133" name="Google Shape;133;p8"/>
          <p:cNvGrpSpPr/>
          <p:nvPr/>
        </p:nvGrpSpPr>
        <p:grpSpPr>
          <a:xfrm>
            <a:off x="6946842" y="4472723"/>
            <a:ext cx="2202830" cy="670795"/>
            <a:chOff x="5575242" y="4472723"/>
            <a:chExt cx="2202830" cy="670795"/>
          </a:xfrm>
        </p:grpSpPr>
        <p:sp>
          <p:nvSpPr>
            <p:cNvPr id="134" name="Google Shape;134;p8"/>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8"/>
            <p:cNvGrpSpPr/>
            <p:nvPr/>
          </p:nvGrpSpPr>
          <p:grpSpPr>
            <a:xfrm flipH="1">
              <a:off x="5734850" y="4472723"/>
              <a:ext cx="2040837" cy="670795"/>
              <a:chOff x="1297954" y="330075"/>
              <a:chExt cx="5169293" cy="1699506"/>
            </a:xfrm>
          </p:grpSpPr>
          <p:sp>
            <p:nvSpPr>
              <p:cNvPr id="136" name="Google Shape;136;p8"/>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8"/>
            <p:cNvGrpSpPr/>
            <p:nvPr/>
          </p:nvGrpSpPr>
          <p:grpSpPr>
            <a:xfrm flipH="1">
              <a:off x="5578209" y="4646738"/>
              <a:ext cx="2199863" cy="304563"/>
              <a:chOff x="-5827153" y="330075"/>
              <a:chExt cx="12276019" cy="1699569"/>
            </a:xfrm>
          </p:grpSpPr>
          <p:sp>
            <p:nvSpPr>
              <p:cNvPr id="139" name="Google Shape;139;p8"/>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 name="Google Shape;141;p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42" name="Google Shape;142;p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6" r:id="rId5"/>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41910" y="1090750"/>
            <a:ext cx="7429500" cy="29619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2400" dirty="0"/>
              <a:t>Statistical Findings Presentation: EMDR Therapy for PTSD Study  </a:t>
            </a:r>
            <a:br>
              <a:rPr lang="en" sz="2400" dirty="0"/>
            </a:br>
            <a:br>
              <a:rPr lang="en" sz="2400" dirty="0"/>
            </a:br>
            <a:r>
              <a:rPr lang="en" sz="2400" b="0" i="1" dirty="0"/>
              <a:t>Presentation Developed for Academic Assessment and Findings Dissemination </a:t>
            </a:r>
            <a:endParaRPr sz="2400" i="1" dirty="0"/>
          </a:p>
        </p:txBody>
      </p:sp>
      <p:sp>
        <p:nvSpPr>
          <p:cNvPr id="3" name="Google Shape;525;p33">
            <a:extLst>
              <a:ext uri="{FF2B5EF4-FFF2-40B4-BE49-F238E27FC236}">
                <a16:creationId xmlns:a16="http://schemas.microsoft.com/office/drawing/2014/main" id="{7A75C9F6-44BF-BB49-999A-48841C14EDAA}"/>
              </a:ext>
            </a:extLst>
          </p:cNvPr>
          <p:cNvSpPr txBox="1">
            <a:spLocks/>
          </p:cNvSpPr>
          <p:nvPr/>
        </p:nvSpPr>
        <p:spPr>
          <a:xfrm>
            <a:off x="4019550" y="4343400"/>
            <a:ext cx="4991100" cy="228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9pPr>
          </a:lstStyle>
          <a:p>
            <a:pPr marL="0" indent="0" algn="r">
              <a:spcBef>
                <a:spcPts val="0"/>
              </a:spcBef>
              <a:buFont typeface="Roboto Condensed Light"/>
              <a:buNone/>
            </a:pPr>
            <a:r>
              <a:rPr lang="en-US" sz="2000" b="1" dirty="0"/>
              <a:t>Ruth Ushindi </a:t>
            </a:r>
            <a:r>
              <a:rPr lang="en-US" sz="2000" dirty="0"/>
              <a:t>(Lead Statistician &amp; Data Analyst)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7"/>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CONTEXT </a:t>
            </a:r>
            <a:endParaRPr dirty="0"/>
          </a:p>
        </p:txBody>
      </p:sp>
      <p:sp>
        <p:nvSpPr>
          <p:cNvPr id="419" name="Google Shape;419;p27"/>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 </a:t>
            </a:r>
            <a:endParaRPr dirty="0"/>
          </a:p>
        </p:txBody>
      </p:sp>
      <p:grpSp>
        <p:nvGrpSpPr>
          <p:cNvPr id="435" name="Google Shape;435;p27"/>
          <p:cNvGrpSpPr/>
          <p:nvPr/>
        </p:nvGrpSpPr>
        <p:grpSpPr>
          <a:xfrm>
            <a:off x="270943" y="629920"/>
            <a:ext cx="392063" cy="291505"/>
            <a:chOff x="5247525" y="3007275"/>
            <a:chExt cx="517575" cy="384825"/>
          </a:xfrm>
        </p:grpSpPr>
        <p:sp>
          <p:nvSpPr>
            <p:cNvPr id="436" name="Google Shape;436;p27"/>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7"/>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37;p16">
            <a:extLst>
              <a:ext uri="{FF2B5EF4-FFF2-40B4-BE49-F238E27FC236}">
                <a16:creationId xmlns:a16="http://schemas.microsoft.com/office/drawing/2014/main" id="{81D698CE-45BC-7048-B302-C14E9445D2CD}"/>
              </a:ext>
            </a:extLst>
          </p:cNvPr>
          <p:cNvSpPr txBox="1">
            <a:spLocks/>
          </p:cNvSpPr>
          <p:nvPr/>
        </p:nvSpPr>
        <p:spPr>
          <a:xfrm>
            <a:off x="0" y="959395"/>
            <a:ext cx="9105400" cy="418410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Clr>
                <a:schemeClr val="accent3"/>
              </a:buClr>
              <a:buFont typeface="Wingdings" pitchFamily="2" charset="2"/>
              <a:buChar char="Ø"/>
            </a:pPr>
            <a:r>
              <a:rPr lang="en-US" sz="2000" dirty="0"/>
              <a:t>This presentation was developed to communicate the statistical findings of a quasi-experimental study evaluating EMDR therapy among ICU healthcare professionals. </a:t>
            </a:r>
          </a:p>
          <a:p>
            <a:pPr marL="342900" indent="-342900">
              <a:buClr>
                <a:schemeClr val="accent3"/>
              </a:buClr>
              <a:buFont typeface="Wingdings" pitchFamily="2" charset="2"/>
              <a:buChar char="Ø"/>
            </a:pPr>
            <a:r>
              <a:rPr lang="en-US" sz="2000" dirty="0"/>
              <a:t>It was designed to support clear demonstration of the analysis process, findings, and their alignment with study objectives during academic assessment. </a:t>
            </a:r>
          </a:p>
          <a:p>
            <a:pPr marL="342900" indent="-342900">
              <a:buClr>
                <a:schemeClr val="accent3"/>
              </a:buClr>
              <a:buFont typeface="Wingdings" pitchFamily="2" charset="2"/>
              <a:buChar char="Ø"/>
            </a:pPr>
            <a:r>
              <a:rPr lang="en-US" sz="2000" dirty="0"/>
              <a:t>The content translates complex statistical results into structured, interpretable insights suitable for non-technical and academic audiences. </a:t>
            </a:r>
          </a:p>
          <a:p>
            <a:pPr marL="342900" indent="-342900">
              <a:buClr>
                <a:schemeClr val="accent3"/>
              </a:buClr>
              <a:buFont typeface="Wingdings" pitchFamily="2" charset="2"/>
              <a:buChar char="Ø"/>
            </a:pPr>
            <a:r>
              <a:rPr lang="en-US" sz="2000" dirty="0"/>
              <a:t>Emphasis was placed on clarity, logical flow, and linking results directly to research objectives.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The Purpose of the Study </a:t>
            </a:r>
          </a:p>
          <a:p>
            <a:pPr lvl="0">
              <a:spcBef>
                <a:spcPts val="0"/>
              </a:spcBef>
            </a:pPr>
            <a:r>
              <a:rPr lang="en-US" sz="1900" dirty="0"/>
              <a:t>The purpose of this study was to assess the impact of EMDR therapy in treating PTSD among healthcare professionals working in ICUs in two level 5 hospitals in Bui Division, Cameroon.   </a:t>
            </a:r>
          </a:p>
          <a:p>
            <a:pPr marL="76200" lvl="0" indent="0">
              <a:spcBef>
                <a:spcPts val="0"/>
              </a:spcBef>
              <a:buNone/>
            </a:pPr>
            <a:endParaRPr lang="en-US" sz="1900" dirty="0"/>
          </a:p>
          <a:p>
            <a:pPr marL="76200" lvl="0" indent="0">
              <a:spcBef>
                <a:spcPts val="0"/>
              </a:spcBef>
              <a:buNone/>
            </a:pPr>
            <a:r>
              <a:rPr lang="en-US" sz="1900" b="1" dirty="0"/>
              <a:t>Participant Identification and Selection </a:t>
            </a:r>
          </a:p>
          <a:p>
            <a:pPr lvl="0">
              <a:spcBef>
                <a:spcPts val="0"/>
              </a:spcBef>
            </a:pPr>
            <a:r>
              <a:rPr lang="en-US" sz="1900" dirty="0"/>
              <a:t>Participants included healthcare professionals working in the Intensive Care Units (ICUs) of Saint Elizabeth General Hospital (for the treatment site) and </a:t>
            </a:r>
            <a:r>
              <a:rPr lang="en-US" sz="1900" dirty="0" err="1"/>
              <a:t>Banso</a:t>
            </a:r>
            <a:r>
              <a:rPr lang="en-US" sz="1900" dirty="0"/>
              <a:t> Baptist Hospital (BBH) (for the control site) in Bui Division, Cameroon. </a:t>
            </a:r>
          </a:p>
          <a:p>
            <a:pPr lvl="0">
              <a:spcBef>
                <a:spcPts val="0"/>
              </a:spcBef>
            </a:pPr>
            <a:r>
              <a:rPr lang="en-US" sz="1900" dirty="0"/>
              <a:t> 44 nurses, 10 physicians, and 13 support staff from each site were sampled through purposive sampling, stratified random sampling, and equal allocation.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3143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Research Objectives </a:t>
            </a:r>
          </a:p>
          <a:p>
            <a:pPr lvl="0">
              <a:spcBef>
                <a:spcPts val="0"/>
              </a:spcBef>
            </a:pPr>
            <a:r>
              <a:rPr lang="en-US" sz="1900" dirty="0"/>
              <a:t>Assess the prevalence of PTSD among ICU healthcare professionals in the selected general hospitals in </a:t>
            </a:r>
            <a:r>
              <a:rPr lang="en-US" sz="1900" dirty="0" err="1"/>
              <a:t>Kumbo</a:t>
            </a:r>
            <a:r>
              <a:rPr lang="en-US" sz="1900" dirty="0"/>
              <a:t>, Bui Division, Cameroon. </a:t>
            </a:r>
          </a:p>
          <a:p>
            <a:pPr lvl="0">
              <a:spcBef>
                <a:spcPts val="0"/>
              </a:spcBef>
            </a:pPr>
            <a:r>
              <a:rPr lang="en-US" sz="1900" dirty="0"/>
              <a:t>Examine the influence of socio-demographic characteristics on the severity of PTSD symptoms among ICU healthcare professionals in selected general hospitals, </a:t>
            </a:r>
            <a:r>
              <a:rPr lang="en-US" sz="1900" dirty="0" err="1"/>
              <a:t>Kumbo</a:t>
            </a:r>
            <a:r>
              <a:rPr lang="en-US" sz="1900" dirty="0"/>
              <a:t>, Bui Division, Cameroon.  </a:t>
            </a:r>
          </a:p>
          <a:p>
            <a:pPr lvl="0">
              <a:spcBef>
                <a:spcPts val="0"/>
              </a:spcBef>
            </a:pPr>
            <a:r>
              <a:rPr lang="en-US" sz="1900" dirty="0"/>
              <a:t>Establish the comorbidities associated with PTSD among ICU healthcare professionals in selected general hospitals, </a:t>
            </a:r>
            <a:r>
              <a:rPr lang="en-US" sz="1900" dirty="0" err="1"/>
              <a:t>Kumbo</a:t>
            </a:r>
            <a:r>
              <a:rPr lang="en-US" sz="1900" dirty="0"/>
              <a:t>, Bui Division, Cameroon.  </a:t>
            </a:r>
          </a:p>
          <a:p>
            <a:pPr lvl="0">
              <a:spcBef>
                <a:spcPts val="0"/>
              </a:spcBef>
            </a:pPr>
            <a:r>
              <a:rPr lang="en-US" sz="1900" dirty="0"/>
              <a:t>Evaluate the effectiveness of EMDR therapy in treating PTSD among ICU healthcare professionals in selected general hospitals in </a:t>
            </a:r>
            <a:r>
              <a:rPr lang="en-US" sz="1900" dirty="0" err="1"/>
              <a:t>Kumbo</a:t>
            </a:r>
            <a:r>
              <a:rPr lang="en-US" sz="1900" dirty="0"/>
              <a:t>, Bui Division, Cameroon.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4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773478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Research Design </a:t>
            </a:r>
          </a:p>
          <a:p>
            <a:pPr lvl="0">
              <a:spcBef>
                <a:spcPts val="0"/>
              </a:spcBef>
            </a:pPr>
            <a:r>
              <a:rPr lang="en-US" sz="1900" dirty="0"/>
              <a:t>The study adopted a quantitative  pretest-posttest quasi-experimental design. </a:t>
            </a:r>
          </a:p>
          <a:p>
            <a:pPr lvl="0">
              <a:spcBef>
                <a:spcPts val="0"/>
              </a:spcBef>
            </a:pPr>
            <a:r>
              <a:rPr lang="en-US" sz="1900" dirty="0"/>
              <a:t>Outcomes were compared in non-randomized groups where the treatment group received EMDR therapy and the dependent variable was measured before and after treatment, while the control group did not receive the intervention. </a:t>
            </a:r>
          </a:p>
          <a:p>
            <a:pPr marL="76200" lvl="0" indent="0">
              <a:spcBef>
                <a:spcPts val="0"/>
              </a:spcBef>
              <a:buNone/>
            </a:pPr>
            <a:endParaRPr lang="en-US" sz="1900" dirty="0"/>
          </a:p>
          <a:p>
            <a:pPr marL="76200" lvl="0" indent="0">
              <a:spcBef>
                <a:spcPts val="0"/>
              </a:spcBef>
              <a:buNone/>
            </a:pPr>
            <a:r>
              <a:rPr lang="en-US" sz="1900" b="1" dirty="0"/>
              <a:t>Research Instruments </a:t>
            </a:r>
          </a:p>
          <a:p>
            <a:pPr lvl="0">
              <a:spcBef>
                <a:spcPts val="0"/>
              </a:spcBef>
            </a:pPr>
            <a:r>
              <a:rPr lang="en-US" sz="1900" dirty="0"/>
              <a:t>A structured self-administered questionnaire with: </a:t>
            </a:r>
          </a:p>
          <a:p>
            <a:pPr lvl="1">
              <a:spcBef>
                <a:spcPts val="0"/>
              </a:spcBef>
              <a:buClr>
                <a:schemeClr val="accent4">
                  <a:lumMod val="75000"/>
                </a:schemeClr>
              </a:buClr>
            </a:pPr>
            <a:r>
              <a:rPr lang="en-US" sz="1900" dirty="0"/>
              <a:t>A researcher-developed socio-demographic section </a:t>
            </a:r>
          </a:p>
          <a:p>
            <a:pPr lvl="1">
              <a:spcBef>
                <a:spcPts val="0"/>
              </a:spcBef>
              <a:buClr>
                <a:schemeClr val="accent4">
                  <a:lumMod val="75000"/>
                </a:schemeClr>
              </a:buClr>
            </a:pPr>
            <a:r>
              <a:rPr lang="en-US" sz="1900" dirty="0"/>
              <a:t>PTSD Checklist for DSM-5 (PCL-5) to measure PTSD symptoms </a:t>
            </a:r>
          </a:p>
          <a:p>
            <a:pPr lvl="1">
              <a:spcBef>
                <a:spcPts val="0"/>
              </a:spcBef>
              <a:buClr>
                <a:schemeClr val="accent4">
                  <a:lumMod val="75000"/>
                </a:schemeClr>
              </a:buClr>
            </a:pPr>
            <a:r>
              <a:rPr lang="en-US" sz="1900" dirty="0"/>
              <a:t>Hospital Anxiety and Depression Scale (HADS) to measure depression and anxiety </a:t>
            </a:r>
          </a:p>
          <a:p>
            <a:pPr lvl="1">
              <a:spcBef>
                <a:spcPts val="0"/>
              </a:spcBef>
              <a:buClr>
                <a:schemeClr val="accent4">
                  <a:lumMod val="75000"/>
                </a:schemeClr>
              </a:buClr>
            </a:pPr>
            <a:r>
              <a:rPr lang="en-US" sz="1900" dirty="0"/>
              <a:t>Maslach Burnout Inventory (MBI) to measure burnout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94983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SOCIO-DEMOGRAPHIC PROFILING </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2400" dirty="0"/>
              <a:t>Baseline Comparison of Participant Characteristics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5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a:solidFill>
                  <a:srgbClr val="3F5378"/>
                </a:solidFill>
                <a:latin typeface="Roboto Condensed"/>
                <a:ea typeface="Roboto Condensed"/>
                <a:cs typeface="Roboto Condensed"/>
                <a:sym typeface="Roboto Condensed"/>
              </a:rPr>
              <a:t>1</a:t>
            </a:r>
            <a:endParaRPr sz="3000" b="1">
              <a:solidFill>
                <a:srgbClr val="3F5378"/>
              </a:solidFill>
              <a:latin typeface="Roboto Condensed"/>
              <a:ea typeface="Roboto Condensed"/>
              <a:cs typeface="Roboto Condensed"/>
              <a:sym typeface="Roboto Condense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Frequency analysis </a:t>
            </a:r>
          </a:p>
          <a:p>
            <a:pPr lvl="0">
              <a:spcBef>
                <a:spcPts val="0"/>
              </a:spcBef>
            </a:pPr>
            <a:r>
              <a:rPr lang="en-US" sz="1900" dirty="0"/>
              <a:t>Obtained counts and percentages for each socio-demographic category across the entire sample. </a:t>
            </a:r>
          </a:p>
          <a:p>
            <a:pPr lvl="0">
              <a:spcBef>
                <a:spcPts val="0"/>
              </a:spcBef>
            </a:pPr>
            <a:r>
              <a:rPr lang="en-US" sz="1900" dirty="0"/>
              <a:t>Chosen to describe the characteristics of the entire study sample (treatment and control combined). </a:t>
            </a:r>
          </a:p>
          <a:p>
            <a:pPr lvl="0">
              <a:spcBef>
                <a:spcPts val="0"/>
              </a:spcBef>
            </a:pPr>
            <a:r>
              <a:rPr lang="en-US" sz="1900" dirty="0"/>
              <a:t>The approach was chosen because: </a:t>
            </a:r>
          </a:p>
          <a:p>
            <a:pPr lvl="1">
              <a:spcBef>
                <a:spcPts val="0"/>
              </a:spcBef>
              <a:buClr>
                <a:schemeClr val="accent4">
                  <a:lumMod val="75000"/>
                </a:schemeClr>
              </a:buClr>
            </a:pPr>
            <a:r>
              <a:rPr lang="en-US" sz="1900" dirty="0"/>
              <a:t>All socio-demographic variables were nominal or ordinal; measures such as means and standard deviations would not be meaningful. </a:t>
            </a:r>
          </a:p>
          <a:p>
            <a:pPr lvl="1">
              <a:spcBef>
                <a:spcPts val="0"/>
              </a:spcBef>
              <a:buClr>
                <a:schemeClr val="accent4">
                  <a:lumMod val="75000"/>
                </a:schemeClr>
              </a:buClr>
            </a:pPr>
            <a:r>
              <a:rPr lang="en-US" sz="1900" dirty="0"/>
              <a:t>Frequencies and percentages provide a direct representation of category distribution without assuming equal intervals or a normal distribution.</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6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471218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194561" y="1"/>
            <a:ext cx="6766560"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1: Socio-Demographic Characteristics of Participants (N = 134)</a:t>
            </a:r>
            <a:r>
              <a:rPr lang="en" dirty="0">
                <a:solidFill>
                  <a:schemeClr val="accent5"/>
                </a:solidFill>
                <a:latin typeface="Times New Roman" panose="02020603050405020304" pitchFamily="18" charset="0"/>
                <a:cs typeface="Times New Roman" panose="02020603050405020304" pitchFamily="18" charset="0"/>
              </a:rPr>
              <a:t> </a:t>
            </a:r>
            <a:endParaRPr dirty="0">
              <a:solidFill>
                <a:schemeClr val="accent5"/>
              </a:solidFill>
              <a:latin typeface="Times New Roman" panose="02020603050405020304" pitchFamily="18" charset="0"/>
              <a:cs typeface="Times New Roman" panose="02020603050405020304" pitchFamily="18" charset="0"/>
            </a:endParaRP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7 </a:t>
            </a:r>
            <a:endParaRPr dirty="0"/>
          </a:p>
        </p:txBody>
      </p:sp>
      <p:graphicFrame>
        <p:nvGraphicFramePr>
          <p:cNvPr id="3" name="Table 2">
            <a:extLst>
              <a:ext uri="{FF2B5EF4-FFF2-40B4-BE49-F238E27FC236}">
                <a16:creationId xmlns:a16="http://schemas.microsoft.com/office/drawing/2014/main" id="{69BD74C6-BA41-9C4F-9380-C54C1330F2DB}"/>
              </a:ext>
            </a:extLst>
          </p:cNvPr>
          <p:cNvGraphicFramePr>
            <a:graphicFrameLocks noGrp="1"/>
          </p:cNvGraphicFramePr>
          <p:nvPr>
            <p:extLst>
              <p:ext uri="{D42A27DB-BD31-4B8C-83A1-F6EECF244321}">
                <p14:modId xmlns:p14="http://schemas.microsoft.com/office/powerpoint/2010/main" val="1581240860"/>
              </p:ext>
            </p:extLst>
          </p:nvPr>
        </p:nvGraphicFramePr>
        <p:xfrm>
          <a:off x="364356" y="693419"/>
          <a:ext cx="8346507" cy="3662750"/>
        </p:xfrm>
        <a:graphic>
          <a:graphicData uri="http://schemas.openxmlformats.org/drawingml/2006/table">
            <a:tbl>
              <a:tblPr firstRow="1" firstCol="1" bandRow="1">
                <a:tableStyleId>{E27665BA-8202-44FC-AD62-C9F0E3EA811A}</a:tableStyleId>
              </a:tblPr>
              <a:tblGrid>
                <a:gridCol w="5966084">
                  <a:extLst>
                    <a:ext uri="{9D8B030D-6E8A-4147-A177-3AD203B41FA5}">
                      <a16:colId xmlns:a16="http://schemas.microsoft.com/office/drawing/2014/main" val="1473262875"/>
                    </a:ext>
                  </a:extLst>
                </a:gridCol>
                <a:gridCol w="994902">
                  <a:extLst>
                    <a:ext uri="{9D8B030D-6E8A-4147-A177-3AD203B41FA5}">
                      <a16:colId xmlns:a16="http://schemas.microsoft.com/office/drawing/2014/main" val="2479122920"/>
                    </a:ext>
                  </a:extLst>
                </a:gridCol>
                <a:gridCol w="1385521">
                  <a:extLst>
                    <a:ext uri="{9D8B030D-6E8A-4147-A177-3AD203B41FA5}">
                      <a16:colId xmlns:a16="http://schemas.microsoft.com/office/drawing/2014/main" val="3279232039"/>
                    </a:ext>
                  </a:extLst>
                </a:gridCol>
              </a:tblGrid>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Characteristic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75453"/>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Gender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41542358"/>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  Female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88522244"/>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  Male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50.0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222010227"/>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Age Group</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894634901"/>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  Up to 25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0.7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93302534"/>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  26–35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77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57.5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47242047"/>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  36–45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56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41.8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40141940"/>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Marital Status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65669112"/>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  Divorced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5.2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21852534"/>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  Married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51.5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832567820"/>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  Single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52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38.8</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942341365"/>
                  </a:ext>
                </a:extLst>
              </a:tr>
              <a:tr h="279842">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  Widowed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4.5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62623974"/>
                  </a:ext>
                </a:extLst>
              </a:tr>
            </a:tbl>
          </a:graphicData>
        </a:graphic>
      </p:graphicFrame>
      <p:sp>
        <p:nvSpPr>
          <p:cNvPr id="4" name="Rectangle 3">
            <a:extLst>
              <a:ext uri="{FF2B5EF4-FFF2-40B4-BE49-F238E27FC236}">
                <a16:creationId xmlns:a16="http://schemas.microsoft.com/office/drawing/2014/main" id="{590DD31A-0B61-1B48-A7E9-3697D9BB3865}"/>
              </a:ext>
            </a:extLst>
          </p:cNvPr>
          <p:cNvSpPr/>
          <p:nvPr/>
        </p:nvSpPr>
        <p:spPr>
          <a:xfrm>
            <a:off x="364356" y="4515356"/>
            <a:ext cx="6819900" cy="376834"/>
          </a:xfrm>
          <a:prstGeom prst="rect">
            <a:avLst/>
          </a:prstGeom>
        </p:spPr>
        <p:txBody>
          <a:bodyPr wrap="square">
            <a:spAutoFit/>
          </a:bodyPr>
          <a:lstStyle/>
          <a:p>
            <a:pPr>
              <a:lnSpc>
                <a:spcPct val="150000"/>
              </a:lnSpc>
            </a:pPr>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Percentages are based on valid responses.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119287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8 </a:t>
            </a:r>
            <a:endParaRPr dirty="0"/>
          </a:p>
        </p:txBody>
      </p:sp>
      <p:graphicFrame>
        <p:nvGraphicFramePr>
          <p:cNvPr id="3" name="Table 2">
            <a:extLst>
              <a:ext uri="{FF2B5EF4-FFF2-40B4-BE49-F238E27FC236}">
                <a16:creationId xmlns:a16="http://schemas.microsoft.com/office/drawing/2014/main" id="{69BD74C6-BA41-9C4F-9380-C54C1330F2DB}"/>
              </a:ext>
            </a:extLst>
          </p:cNvPr>
          <p:cNvGraphicFramePr>
            <a:graphicFrameLocks noGrp="1"/>
          </p:cNvGraphicFramePr>
          <p:nvPr>
            <p:extLst>
              <p:ext uri="{D42A27DB-BD31-4B8C-83A1-F6EECF244321}">
                <p14:modId xmlns:p14="http://schemas.microsoft.com/office/powerpoint/2010/main" val="4162422529"/>
              </p:ext>
            </p:extLst>
          </p:nvPr>
        </p:nvGraphicFramePr>
        <p:xfrm>
          <a:off x="394636" y="672528"/>
          <a:ext cx="8200724" cy="3662750"/>
        </p:xfrm>
        <a:graphic>
          <a:graphicData uri="http://schemas.openxmlformats.org/drawingml/2006/table">
            <a:tbl>
              <a:tblPr firstRow="1" firstCol="1" bandRow="1">
                <a:tableStyleId>{E27665BA-8202-44FC-AD62-C9F0E3EA811A}</a:tableStyleId>
              </a:tblPr>
              <a:tblGrid>
                <a:gridCol w="5861878">
                  <a:extLst>
                    <a:ext uri="{9D8B030D-6E8A-4147-A177-3AD203B41FA5}">
                      <a16:colId xmlns:a16="http://schemas.microsoft.com/office/drawing/2014/main" val="1473262875"/>
                    </a:ext>
                  </a:extLst>
                </a:gridCol>
                <a:gridCol w="977525">
                  <a:extLst>
                    <a:ext uri="{9D8B030D-6E8A-4147-A177-3AD203B41FA5}">
                      <a16:colId xmlns:a16="http://schemas.microsoft.com/office/drawing/2014/main" val="2479122920"/>
                    </a:ext>
                  </a:extLst>
                </a:gridCol>
                <a:gridCol w="1361321">
                  <a:extLst>
                    <a:ext uri="{9D8B030D-6E8A-4147-A177-3AD203B41FA5}">
                      <a16:colId xmlns:a16="http://schemas.microsoft.com/office/drawing/2014/main" val="3279232039"/>
                    </a:ext>
                  </a:extLst>
                </a:gridCol>
              </a:tblGrid>
              <a:tr h="143891">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Characteristic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75453"/>
                  </a:ext>
                </a:extLst>
              </a:tr>
              <a:tr h="143891">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Role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90619117"/>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  Nurse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88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65.7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360589561"/>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  Physician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14.9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380391947"/>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  Support staff</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19.4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053485268"/>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Working Hours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4078570"/>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  Below average hours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35.1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88044881"/>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  Average hours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35.8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66637823"/>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  Above average hours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29.1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87774295"/>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ICU Experience Length</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84291831"/>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  1–5 years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49.3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51383994"/>
                  </a:ext>
                </a:extLst>
              </a:tr>
              <a:tr h="143891">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  6–10 years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48.5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60262055"/>
                  </a:ext>
                </a:extLst>
              </a:tr>
              <a:tr h="143891">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  11–15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2.2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2632565"/>
                  </a:ext>
                </a:extLst>
              </a:tr>
            </a:tbl>
          </a:graphicData>
        </a:graphic>
      </p:graphicFrame>
      <p:sp>
        <p:nvSpPr>
          <p:cNvPr id="4" name="Rectangle 3">
            <a:extLst>
              <a:ext uri="{FF2B5EF4-FFF2-40B4-BE49-F238E27FC236}">
                <a16:creationId xmlns:a16="http://schemas.microsoft.com/office/drawing/2014/main" id="{590DD31A-0B61-1B48-A7E9-3697D9BB3865}"/>
              </a:ext>
            </a:extLst>
          </p:cNvPr>
          <p:cNvSpPr/>
          <p:nvPr/>
        </p:nvSpPr>
        <p:spPr>
          <a:xfrm>
            <a:off x="394636" y="4473574"/>
            <a:ext cx="6819900" cy="376834"/>
          </a:xfrm>
          <a:prstGeom prst="rect">
            <a:avLst/>
          </a:prstGeom>
        </p:spPr>
        <p:txBody>
          <a:bodyPr wrap="square">
            <a:spAutoFit/>
          </a:bodyPr>
          <a:lstStyle/>
          <a:p>
            <a:pPr>
              <a:lnSpc>
                <a:spcPct val="150000"/>
              </a:lnSpc>
            </a:pPr>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Percentages are based on valid responses.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4560" y="1"/>
            <a:ext cx="6756935"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1: Socio-Demographic Characteristics of Participants (N = 134) </a:t>
            </a:r>
          </a:p>
        </p:txBody>
      </p:sp>
    </p:spTree>
    <p:extLst>
      <p:ext uri="{BB962C8B-B14F-4D97-AF65-F5344CB8AC3E}">
        <p14:creationId xmlns:p14="http://schemas.microsoft.com/office/powerpoint/2010/main" val="35312228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4"/>
            <a:ext cx="9105400" cy="4184107"/>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Crosstabulation of Group-Wise Profiles and Pearson Chi-Square Tests of Association </a:t>
            </a:r>
          </a:p>
          <a:p>
            <a:pPr lvl="0">
              <a:spcBef>
                <a:spcPts val="0"/>
              </a:spcBef>
            </a:pPr>
            <a:r>
              <a:rPr lang="en-US" sz="1900" dirty="0"/>
              <a:t>Compared socio-demographic distributions between treatment and control groups for baseline equivalence and test for the presence of any significant difference. </a:t>
            </a:r>
          </a:p>
          <a:p>
            <a:pPr lvl="0">
              <a:spcBef>
                <a:spcPts val="0"/>
              </a:spcBef>
            </a:pPr>
            <a:r>
              <a:rPr lang="en-US" sz="1900" dirty="0"/>
              <a:t>Chosen to: </a:t>
            </a:r>
          </a:p>
          <a:p>
            <a:pPr lvl="1">
              <a:spcBef>
                <a:spcPts val="0"/>
              </a:spcBef>
              <a:buClr>
                <a:schemeClr val="accent4">
                  <a:lumMod val="75000"/>
                </a:schemeClr>
              </a:buClr>
            </a:pPr>
            <a:r>
              <a:rPr lang="en-US" sz="1900" dirty="0"/>
              <a:t>Profile participants within each group (treatment and control). </a:t>
            </a:r>
          </a:p>
          <a:p>
            <a:pPr lvl="1">
              <a:spcBef>
                <a:spcPts val="0"/>
              </a:spcBef>
              <a:buClr>
                <a:schemeClr val="accent4">
                  <a:lumMod val="75000"/>
                </a:schemeClr>
              </a:buClr>
            </a:pPr>
            <a:r>
              <a:rPr lang="en-US" sz="1900" dirty="0"/>
              <a:t>Ensure any post-intervention differences are attributable to the intervention rather than pre-existing differences. </a:t>
            </a:r>
          </a:p>
          <a:p>
            <a:pPr lvl="0">
              <a:spcBef>
                <a:spcPts val="0"/>
              </a:spcBef>
              <a:buClr>
                <a:srgbClr val="C7D3E6"/>
              </a:buClr>
            </a:pPr>
            <a:r>
              <a:rPr lang="en-US" sz="1900" dirty="0">
                <a:solidFill>
                  <a:srgbClr val="263248"/>
                </a:solidFill>
              </a:rPr>
              <a:t>The approach was chosen because: </a:t>
            </a:r>
            <a:endParaRPr lang="en-US" sz="1900" dirty="0"/>
          </a:p>
          <a:p>
            <a:pPr lvl="1">
              <a:spcBef>
                <a:spcPts val="0"/>
              </a:spcBef>
              <a:buClr>
                <a:schemeClr val="accent4">
                  <a:lumMod val="75000"/>
                </a:schemeClr>
              </a:buClr>
            </a:pPr>
            <a:r>
              <a:rPr lang="en-US" sz="1900" dirty="0"/>
              <a:t>Crosstabulation allows side-by-side comparison of group distributions</a:t>
            </a:r>
          </a:p>
          <a:p>
            <a:pPr lvl="1">
              <a:spcBef>
                <a:spcPts val="0"/>
              </a:spcBef>
              <a:buClr>
                <a:schemeClr val="accent4">
                  <a:lumMod val="75000"/>
                </a:schemeClr>
              </a:buClr>
            </a:pPr>
            <a:r>
              <a:rPr lang="en-US" sz="1900" dirty="0"/>
              <a:t>All variables were categorical, satisfying Chi-square assumptions</a:t>
            </a:r>
          </a:p>
          <a:p>
            <a:pPr lvl="1">
              <a:spcBef>
                <a:spcPts val="0"/>
              </a:spcBef>
              <a:buClr>
                <a:schemeClr val="accent4">
                  <a:lumMod val="75000"/>
                </a:schemeClr>
              </a:buClr>
            </a:pPr>
            <a:r>
              <a:rPr lang="en-US" sz="1900" dirty="0"/>
              <a:t>Chi-square tests provide statistical significance for associations without assuming interval-level data.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9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731664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10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94636" y="4435474"/>
            <a:ext cx="6819900" cy="738664"/>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Percentages are within groups. </a:t>
            </a:r>
            <a:r>
              <a:rPr lang="el-GR" dirty="0">
                <a:latin typeface="Times New Roman" panose="02020603050405020304" pitchFamily="18" charset="0"/>
                <a:ea typeface="Calibri" panose="020F0502020204030204" pitchFamily="34" charset="0"/>
                <a:cs typeface="Times New Roman" panose="02020603050405020304" pitchFamily="18" charset="0"/>
              </a:rPr>
              <a:t>χ² = </a:t>
            </a:r>
            <a:r>
              <a:rPr lang="en-US" dirty="0">
                <a:latin typeface="Times New Roman" panose="02020603050405020304" pitchFamily="18" charset="0"/>
                <a:ea typeface="Calibri" panose="020F0502020204030204" pitchFamily="34" charset="0"/>
                <a:cs typeface="Times New Roman" panose="02020603050405020304" pitchFamily="18" charset="0"/>
              </a:rPr>
              <a:t>Pearson Chi-square test. </a:t>
            </a:r>
            <a:r>
              <a:rPr lang="en-US" dirty="0" err="1">
                <a:latin typeface="Times New Roman" panose="02020603050405020304" pitchFamily="18" charset="0"/>
                <a:ea typeface="Calibri" panose="020F0502020204030204" pitchFamily="34" charset="0"/>
                <a:cs typeface="Times New Roman" panose="02020603050405020304" pitchFamily="18" charset="0"/>
              </a:rPr>
              <a:t>Cramér’s</a:t>
            </a:r>
            <a:r>
              <a:rPr lang="en-US" dirty="0">
                <a:latin typeface="Times New Roman" panose="02020603050405020304" pitchFamily="18" charset="0"/>
                <a:ea typeface="Calibri" panose="020F0502020204030204" pitchFamily="34" charset="0"/>
                <a:cs typeface="Times New Roman" panose="02020603050405020304" pitchFamily="18" charset="0"/>
              </a:rPr>
              <a:t> V is the effect size measure for categorical variables, interpreted as: small (.10), medium (.30), large (.50). p-values are 2-sided.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2: Baseline Socio-Demographic Characteristics by Study Group (N = 134)</a:t>
            </a:r>
          </a:p>
        </p:txBody>
      </p:sp>
      <p:graphicFrame>
        <p:nvGraphicFramePr>
          <p:cNvPr id="2" name="Table 1">
            <a:extLst>
              <a:ext uri="{FF2B5EF4-FFF2-40B4-BE49-F238E27FC236}">
                <a16:creationId xmlns:a16="http://schemas.microsoft.com/office/drawing/2014/main" id="{262B2128-B679-4546-AA6D-D9A8D3709509}"/>
              </a:ext>
            </a:extLst>
          </p:cNvPr>
          <p:cNvGraphicFramePr>
            <a:graphicFrameLocks noGrp="1"/>
          </p:cNvGraphicFramePr>
          <p:nvPr>
            <p:extLst>
              <p:ext uri="{D42A27DB-BD31-4B8C-83A1-F6EECF244321}">
                <p14:modId xmlns:p14="http://schemas.microsoft.com/office/powerpoint/2010/main" val="4276271960"/>
              </p:ext>
            </p:extLst>
          </p:nvPr>
        </p:nvGraphicFramePr>
        <p:xfrm>
          <a:off x="394635" y="693419"/>
          <a:ext cx="8368363" cy="3662750"/>
        </p:xfrm>
        <a:graphic>
          <a:graphicData uri="http://schemas.openxmlformats.org/drawingml/2006/table">
            <a:tbl>
              <a:tblPr firstRow="1" firstCol="1" bandRow="1">
                <a:tableStyleId>{E27665BA-8202-44FC-AD62-C9F0E3EA811A}</a:tableStyleId>
              </a:tblPr>
              <a:tblGrid>
                <a:gridCol w="1961545">
                  <a:extLst>
                    <a:ext uri="{9D8B030D-6E8A-4147-A177-3AD203B41FA5}">
                      <a16:colId xmlns:a16="http://schemas.microsoft.com/office/drawing/2014/main" val="3594928764"/>
                    </a:ext>
                  </a:extLst>
                </a:gridCol>
                <a:gridCol w="1283704">
                  <a:extLst>
                    <a:ext uri="{9D8B030D-6E8A-4147-A177-3AD203B41FA5}">
                      <a16:colId xmlns:a16="http://schemas.microsoft.com/office/drawing/2014/main" val="1776896953"/>
                    </a:ext>
                  </a:extLst>
                </a:gridCol>
                <a:gridCol w="1487895">
                  <a:extLst>
                    <a:ext uri="{9D8B030D-6E8A-4147-A177-3AD203B41FA5}">
                      <a16:colId xmlns:a16="http://schemas.microsoft.com/office/drawing/2014/main" val="814123206"/>
                    </a:ext>
                  </a:extLst>
                </a:gridCol>
                <a:gridCol w="1101278">
                  <a:extLst>
                    <a:ext uri="{9D8B030D-6E8A-4147-A177-3AD203B41FA5}">
                      <a16:colId xmlns:a16="http://schemas.microsoft.com/office/drawing/2014/main" val="2626959354"/>
                    </a:ext>
                  </a:extLst>
                </a:gridCol>
                <a:gridCol w="773237">
                  <a:extLst>
                    <a:ext uri="{9D8B030D-6E8A-4147-A177-3AD203B41FA5}">
                      <a16:colId xmlns:a16="http://schemas.microsoft.com/office/drawing/2014/main" val="1504529537"/>
                    </a:ext>
                  </a:extLst>
                </a:gridCol>
                <a:gridCol w="644363">
                  <a:extLst>
                    <a:ext uri="{9D8B030D-6E8A-4147-A177-3AD203B41FA5}">
                      <a16:colId xmlns:a16="http://schemas.microsoft.com/office/drawing/2014/main" val="3568712940"/>
                    </a:ext>
                  </a:extLst>
                </a:gridCol>
                <a:gridCol w="1116341">
                  <a:extLst>
                    <a:ext uri="{9D8B030D-6E8A-4147-A177-3AD203B41FA5}">
                      <a16:colId xmlns:a16="http://schemas.microsoft.com/office/drawing/2014/main" val="2385164166"/>
                    </a:ext>
                  </a:extLst>
                </a:gridCol>
              </a:tblGrid>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Characteristic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Control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Treatment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Total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χ²(df)</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err="1">
                          <a:effectLst/>
                          <a:latin typeface="Times New Roman" panose="02020603050405020304" pitchFamily="18" charset="0"/>
                          <a:cs typeface="Times New Roman" panose="02020603050405020304" pitchFamily="18" charset="0"/>
                        </a:rPr>
                        <a:t>Cramér’s</a:t>
                      </a:r>
                      <a:r>
                        <a:rPr lang="en-US" sz="1400" dirty="0">
                          <a:effectLst/>
                          <a:latin typeface="Times New Roman" panose="02020603050405020304" pitchFamily="18" charset="0"/>
                          <a:cs typeface="Times New Roman" panose="02020603050405020304" pitchFamily="18" charset="0"/>
                        </a:rPr>
                        <a:t> V</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8834867"/>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Gender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872990263"/>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Female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32 (47.8)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35 (52.2)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67 (50.0)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0.27(1)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.045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835244443"/>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Male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35 (52.2)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32 (47.8)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67 (50.0)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95558480"/>
                  </a:ext>
                </a:extLst>
              </a:tr>
              <a:tr h="145237">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Age group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665528660"/>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Up to 25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 (0.0)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 (1.5)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 (0.7)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4.36(2)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.113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.181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73010914"/>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26–35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44 (65.7)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33 (49.3)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77 (57.5)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816176153"/>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36–45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23 (34.3)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33 (49.3)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56 (41.8)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71102359"/>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Marital status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68635780"/>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Divorced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 (4.5)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 (6.0)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7 (5.2)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0.90(3)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.825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.082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53939416"/>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Married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35 (52.2)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34 (50.7)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69 (51.5)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68709328"/>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Single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25 (37.3)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27 (40.3)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52 (38.8)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46825690"/>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Widowed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 (6.0)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 (3.0)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 (4.5)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805578301"/>
                  </a:ext>
                </a:extLst>
              </a:tr>
            </a:tbl>
          </a:graphicData>
        </a:graphic>
      </p:graphicFrame>
    </p:spTree>
    <p:extLst>
      <p:ext uri="{BB962C8B-B14F-4D97-AF65-F5344CB8AC3E}">
        <p14:creationId xmlns:p14="http://schemas.microsoft.com/office/powerpoint/2010/main" val="31383788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11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94636" y="4435474"/>
            <a:ext cx="6819900" cy="738664"/>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Percentages are within groups. </a:t>
            </a:r>
            <a:r>
              <a:rPr lang="el-GR" dirty="0">
                <a:latin typeface="Times New Roman" panose="02020603050405020304" pitchFamily="18" charset="0"/>
                <a:ea typeface="Calibri" panose="020F0502020204030204" pitchFamily="34" charset="0"/>
                <a:cs typeface="Times New Roman" panose="02020603050405020304" pitchFamily="18" charset="0"/>
              </a:rPr>
              <a:t>χ² = </a:t>
            </a:r>
            <a:r>
              <a:rPr lang="en-US" dirty="0">
                <a:latin typeface="Times New Roman" panose="02020603050405020304" pitchFamily="18" charset="0"/>
                <a:ea typeface="Calibri" panose="020F0502020204030204" pitchFamily="34" charset="0"/>
                <a:cs typeface="Times New Roman" panose="02020603050405020304" pitchFamily="18" charset="0"/>
              </a:rPr>
              <a:t>Pearson Chi-square test. </a:t>
            </a:r>
            <a:r>
              <a:rPr lang="en-US" dirty="0" err="1">
                <a:latin typeface="Times New Roman" panose="02020603050405020304" pitchFamily="18" charset="0"/>
                <a:ea typeface="Calibri" panose="020F0502020204030204" pitchFamily="34" charset="0"/>
                <a:cs typeface="Times New Roman" panose="02020603050405020304" pitchFamily="18" charset="0"/>
              </a:rPr>
              <a:t>Cramér’s</a:t>
            </a:r>
            <a:r>
              <a:rPr lang="en-US" dirty="0">
                <a:latin typeface="Times New Roman" panose="02020603050405020304" pitchFamily="18" charset="0"/>
                <a:ea typeface="Calibri" panose="020F0502020204030204" pitchFamily="34" charset="0"/>
                <a:cs typeface="Times New Roman" panose="02020603050405020304" pitchFamily="18" charset="0"/>
              </a:rPr>
              <a:t> V is the effect size measure for categorical variables, interpreted as: small (.10), medium (.30), large (.50). p-values are 2-sided.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2: Baseline Socio-Demographic Characteristics by Study Group (N = 134)</a:t>
            </a:r>
          </a:p>
        </p:txBody>
      </p:sp>
      <p:graphicFrame>
        <p:nvGraphicFramePr>
          <p:cNvPr id="2" name="Table 1">
            <a:extLst>
              <a:ext uri="{FF2B5EF4-FFF2-40B4-BE49-F238E27FC236}">
                <a16:creationId xmlns:a16="http://schemas.microsoft.com/office/drawing/2014/main" id="{262B2128-B679-4546-AA6D-D9A8D3709509}"/>
              </a:ext>
            </a:extLst>
          </p:cNvPr>
          <p:cNvGraphicFramePr>
            <a:graphicFrameLocks noGrp="1"/>
          </p:cNvGraphicFramePr>
          <p:nvPr>
            <p:extLst>
              <p:ext uri="{D42A27DB-BD31-4B8C-83A1-F6EECF244321}">
                <p14:modId xmlns:p14="http://schemas.microsoft.com/office/powerpoint/2010/main" val="4122324145"/>
              </p:ext>
            </p:extLst>
          </p:nvPr>
        </p:nvGraphicFramePr>
        <p:xfrm>
          <a:off x="394635" y="693419"/>
          <a:ext cx="8368363" cy="3662750"/>
        </p:xfrm>
        <a:graphic>
          <a:graphicData uri="http://schemas.openxmlformats.org/drawingml/2006/table">
            <a:tbl>
              <a:tblPr firstRow="1" firstCol="1" bandRow="1">
                <a:tableStyleId>{E27665BA-8202-44FC-AD62-C9F0E3EA811A}</a:tableStyleId>
              </a:tblPr>
              <a:tblGrid>
                <a:gridCol w="1961545">
                  <a:extLst>
                    <a:ext uri="{9D8B030D-6E8A-4147-A177-3AD203B41FA5}">
                      <a16:colId xmlns:a16="http://schemas.microsoft.com/office/drawing/2014/main" val="3594928764"/>
                    </a:ext>
                  </a:extLst>
                </a:gridCol>
                <a:gridCol w="1283704">
                  <a:extLst>
                    <a:ext uri="{9D8B030D-6E8A-4147-A177-3AD203B41FA5}">
                      <a16:colId xmlns:a16="http://schemas.microsoft.com/office/drawing/2014/main" val="1776896953"/>
                    </a:ext>
                  </a:extLst>
                </a:gridCol>
                <a:gridCol w="1487895">
                  <a:extLst>
                    <a:ext uri="{9D8B030D-6E8A-4147-A177-3AD203B41FA5}">
                      <a16:colId xmlns:a16="http://schemas.microsoft.com/office/drawing/2014/main" val="814123206"/>
                    </a:ext>
                  </a:extLst>
                </a:gridCol>
                <a:gridCol w="1101278">
                  <a:extLst>
                    <a:ext uri="{9D8B030D-6E8A-4147-A177-3AD203B41FA5}">
                      <a16:colId xmlns:a16="http://schemas.microsoft.com/office/drawing/2014/main" val="2626959354"/>
                    </a:ext>
                  </a:extLst>
                </a:gridCol>
                <a:gridCol w="773237">
                  <a:extLst>
                    <a:ext uri="{9D8B030D-6E8A-4147-A177-3AD203B41FA5}">
                      <a16:colId xmlns:a16="http://schemas.microsoft.com/office/drawing/2014/main" val="1504529537"/>
                    </a:ext>
                  </a:extLst>
                </a:gridCol>
                <a:gridCol w="644363">
                  <a:extLst>
                    <a:ext uri="{9D8B030D-6E8A-4147-A177-3AD203B41FA5}">
                      <a16:colId xmlns:a16="http://schemas.microsoft.com/office/drawing/2014/main" val="3568712940"/>
                    </a:ext>
                  </a:extLst>
                </a:gridCol>
                <a:gridCol w="1116341">
                  <a:extLst>
                    <a:ext uri="{9D8B030D-6E8A-4147-A177-3AD203B41FA5}">
                      <a16:colId xmlns:a16="http://schemas.microsoft.com/office/drawing/2014/main" val="2385164166"/>
                    </a:ext>
                  </a:extLst>
                </a:gridCol>
              </a:tblGrid>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Characteristic</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Control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Treatment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Total n (%)</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χ²(df)</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dirty="0" err="1">
                          <a:effectLst/>
                          <a:latin typeface="Times New Roman" panose="02020603050405020304" pitchFamily="18" charset="0"/>
                          <a:cs typeface="Times New Roman" panose="02020603050405020304" pitchFamily="18" charset="0"/>
                        </a:rPr>
                        <a:t>Cramér’s</a:t>
                      </a:r>
                      <a:r>
                        <a:rPr lang="en-US" sz="1400" dirty="0">
                          <a:effectLst/>
                          <a:latin typeface="Times New Roman" panose="02020603050405020304" pitchFamily="18" charset="0"/>
                          <a:cs typeface="Times New Roman" panose="02020603050405020304" pitchFamily="18" charset="0"/>
                        </a:rPr>
                        <a:t> V</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8834867"/>
                  </a:ext>
                </a:extLst>
              </a:tr>
              <a:tr h="145237">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Role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137631922"/>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Nurse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44 (65.7)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44 (65.7)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88 (65.7)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0.00(2)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1.000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963880025"/>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Physician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10 (14.9)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10 (14.9)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20 (14.9)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490116656"/>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Support staff</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13 (19.4)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13 (19.4)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26 (19.4)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239635422"/>
                  </a:ext>
                </a:extLst>
              </a:tr>
              <a:tr h="145237">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ICU experience length</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07475645"/>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1–5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30 (44.8)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36 (53.7)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66 (49.3)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4.79(2)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.091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.189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8563119"/>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6–10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37 (55.2)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28 (41.8)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65 (48.5)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82715002"/>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11–15 years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 (0.0)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 (4.5)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 (2.2)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36722161"/>
                  </a:ext>
                </a:extLst>
              </a:tr>
              <a:tr h="145237">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Working hours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08901210"/>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Below average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19 (28.4)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28 (41.8)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47 (35.1)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4.91(2)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.086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.192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79988295"/>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Average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23 (34.3)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25 (37.3)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48 (35.8)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06108893"/>
                  </a:ext>
                </a:extLst>
              </a:tr>
              <a:tr h="145237">
                <a:tc>
                  <a:txBody>
                    <a:bodyPr/>
                    <a:lstStyle/>
                    <a:p>
                      <a:pPr>
                        <a:lnSpc>
                          <a:spcPct val="150000"/>
                        </a:lnSpc>
                        <a:spcAft>
                          <a:spcPts val="0"/>
                        </a:spcAft>
                      </a:pPr>
                      <a:r>
                        <a:rPr lang="en-US" sz="1400" dirty="0">
                          <a:effectLst/>
                          <a:latin typeface="Times New Roman" panose="02020603050405020304" pitchFamily="18" charset="0"/>
                          <a:cs typeface="Times New Roman" panose="02020603050405020304" pitchFamily="18" charset="0"/>
                        </a:rPr>
                        <a:t>     Above average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25 (37.3)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14 (20.9)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50000"/>
                        </a:lnSpc>
                        <a:spcAft>
                          <a:spcPts val="0"/>
                        </a:spcAft>
                      </a:pPr>
                      <a:r>
                        <a:rPr lang="en-US" sz="1400">
                          <a:effectLst/>
                          <a:latin typeface="Times New Roman" panose="02020603050405020304" pitchFamily="18" charset="0"/>
                          <a:cs typeface="Times New Roman" panose="02020603050405020304" pitchFamily="18" charset="0"/>
                        </a:rPr>
                        <a:t>39 (29.1)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400" dirty="0">
                        <a:effectLst/>
                        <a:latin typeface="Times New Roman" panose="02020603050405020304" pitchFamily="18" charset="0"/>
                        <a:cs typeface="Times New Roman" panose="02020603050405020304" pitchFamily="18" charset="0"/>
                      </a:endParaRPr>
                    </a:p>
                  </a:txBody>
                  <a:tcPr marL="42906" marR="4290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1668124"/>
                  </a:ext>
                </a:extLst>
              </a:tr>
            </a:tbl>
          </a:graphicData>
        </a:graphic>
      </p:graphicFrame>
    </p:spTree>
    <p:extLst>
      <p:ext uri="{BB962C8B-B14F-4D97-AF65-F5344CB8AC3E}">
        <p14:creationId xmlns:p14="http://schemas.microsoft.com/office/powerpoint/2010/main" val="9279948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Pearson Chi-Square Tests of Association </a:t>
            </a:r>
          </a:p>
          <a:p>
            <a:pPr lvl="0">
              <a:spcBef>
                <a:spcPts val="0"/>
              </a:spcBef>
            </a:pPr>
            <a:r>
              <a:rPr lang="en-US" sz="1900" dirty="0"/>
              <a:t>Tested whether distributions of socio-demographic variables differed significantly between selected socio-demographic pairs for broader context and potential confounders. </a:t>
            </a:r>
          </a:p>
          <a:p>
            <a:pPr lvl="0">
              <a:spcBef>
                <a:spcPts val="0"/>
              </a:spcBef>
            </a:pPr>
            <a:r>
              <a:rPr lang="en-US" sz="1900" dirty="0"/>
              <a:t>Chosen to identify potential relationships or confounding factors that could influence study outcomes. </a:t>
            </a:r>
          </a:p>
          <a:p>
            <a:pPr lvl="0">
              <a:spcBef>
                <a:spcPts val="0"/>
              </a:spcBef>
              <a:buClr>
                <a:srgbClr val="C7D3E6"/>
              </a:buClr>
            </a:pPr>
            <a:r>
              <a:rPr lang="en-US" sz="1900" dirty="0">
                <a:solidFill>
                  <a:srgbClr val="263248"/>
                </a:solidFill>
              </a:rPr>
              <a:t>The approach was chosen because: </a:t>
            </a:r>
            <a:endParaRPr lang="en-US" sz="1900" dirty="0"/>
          </a:p>
          <a:p>
            <a:pPr lvl="1">
              <a:spcBef>
                <a:spcPts val="0"/>
              </a:spcBef>
              <a:buClr>
                <a:schemeClr val="accent4">
                  <a:lumMod val="75000"/>
                </a:schemeClr>
              </a:buClr>
            </a:pPr>
            <a:r>
              <a:rPr lang="en-US" sz="1900" dirty="0"/>
              <a:t>All variables were categorical, satisfying Chi-square assumptions (with Fisher’s Exact applied where small cell counts occurred). </a:t>
            </a:r>
          </a:p>
          <a:p>
            <a:pPr lvl="1">
              <a:spcBef>
                <a:spcPts val="0"/>
              </a:spcBef>
              <a:buClr>
                <a:schemeClr val="accent4">
                  <a:lumMod val="75000"/>
                </a:schemeClr>
              </a:buClr>
            </a:pPr>
            <a:r>
              <a:rPr lang="en-US" sz="1900" dirty="0"/>
              <a:t>Chi-square tests provide statistical significance for associations without assuming interval-level data.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12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560495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94635" y="2918798"/>
            <a:ext cx="8368363" cy="738664"/>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χ² = Pearson Chi-square test statistic. p-values are 2-tailed. </a:t>
            </a:r>
            <a:r>
              <a:rPr lang="en-US" dirty="0" err="1">
                <a:latin typeface="Times New Roman" panose="02020603050405020304" pitchFamily="18" charset="0"/>
                <a:ea typeface="Calibri" panose="020F0502020204030204" pitchFamily="34" charset="0"/>
                <a:cs typeface="Times New Roman" panose="02020603050405020304" pitchFamily="18" charset="0"/>
              </a:rPr>
              <a:t>Cramér’s</a:t>
            </a:r>
            <a:r>
              <a:rPr lang="en-US" dirty="0">
                <a:latin typeface="Times New Roman" panose="02020603050405020304" pitchFamily="18" charset="0"/>
                <a:ea typeface="Calibri" panose="020F0502020204030204" pitchFamily="34" charset="0"/>
                <a:cs typeface="Times New Roman" panose="02020603050405020304" pitchFamily="18" charset="0"/>
              </a:rPr>
              <a:t> V interpreted as: small = .10, medium = .30, large = .50. Fisher’s Exact test applied when &gt;20% of cells had expected counts &lt; 5 for 2×2 tables. *p &lt; .05; **p &lt; .01.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3: Association Between Key Sociodemographic Variables (N = 134) </a:t>
            </a:r>
          </a:p>
        </p:txBody>
      </p:sp>
      <p:graphicFrame>
        <p:nvGraphicFramePr>
          <p:cNvPr id="5" name="Table 4">
            <a:extLst>
              <a:ext uri="{FF2B5EF4-FFF2-40B4-BE49-F238E27FC236}">
                <a16:creationId xmlns:a16="http://schemas.microsoft.com/office/drawing/2014/main" id="{1752C054-7D3E-2948-A35B-9CE249641D3C}"/>
              </a:ext>
            </a:extLst>
          </p:cNvPr>
          <p:cNvGraphicFramePr>
            <a:graphicFrameLocks noGrp="1"/>
          </p:cNvGraphicFramePr>
          <p:nvPr>
            <p:extLst>
              <p:ext uri="{D42A27DB-BD31-4B8C-83A1-F6EECF244321}">
                <p14:modId xmlns:p14="http://schemas.microsoft.com/office/powerpoint/2010/main" val="3810765269"/>
              </p:ext>
            </p:extLst>
          </p:nvPr>
        </p:nvGraphicFramePr>
        <p:xfrm>
          <a:off x="394636" y="880030"/>
          <a:ext cx="8368363" cy="1852157"/>
        </p:xfrm>
        <a:graphic>
          <a:graphicData uri="http://schemas.openxmlformats.org/drawingml/2006/table">
            <a:tbl>
              <a:tblPr firstRow="1" firstCol="1" bandRow="1"/>
              <a:tblGrid>
                <a:gridCol w="3807605">
                  <a:extLst>
                    <a:ext uri="{9D8B030D-6E8A-4147-A177-3AD203B41FA5}">
                      <a16:colId xmlns:a16="http://schemas.microsoft.com/office/drawing/2014/main" val="3375966633"/>
                    </a:ext>
                  </a:extLst>
                </a:gridCol>
                <a:gridCol w="912152">
                  <a:extLst>
                    <a:ext uri="{9D8B030D-6E8A-4147-A177-3AD203B41FA5}">
                      <a16:colId xmlns:a16="http://schemas.microsoft.com/office/drawing/2014/main" val="2534646900"/>
                    </a:ext>
                  </a:extLst>
                </a:gridCol>
                <a:gridCol w="776584">
                  <a:extLst>
                    <a:ext uri="{9D8B030D-6E8A-4147-A177-3AD203B41FA5}">
                      <a16:colId xmlns:a16="http://schemas.microsoft.com/office/drawing/2014/main" val="3209873917"/>
                    </a:ext>
                  </a:extLst>
                </a:gridCol>
                <a:gridCol w="1169896">
                  <a:extLst>
                    <a:ext uri="{9D8B030D-6E8A-4147-A177-3AD203B41FA5}">
                      <a16:colId xmlns:a16="http://schemas.microsoft.com/office/drawing/2014/main" val="2269904171"/>
                    </a:ext>
                  </a:extLst>
                </a:gridCol>
                <a:gridCol w="1702126">
                  <a:extLst>
                    <a:ext uri="{9D8B030D-6E8A-4147-A177-3AD203B41FA5}">
                      <a16:colId xmlns:a16="http://schemas.microsoft.com/office/drawing/2014/main" val="386916094"/>
                    </a:ext>
                  </a:extLst>
                </a:gridCol>
              </a:tblGrid>
              <a:tr h="283362">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Variable Pair</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χ²(df)</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Cramér’s V</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Notes</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4046210"/>
                  </a:ext>
                </a:extLst>
              </a:tr>
              <a:tr h="134321">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Gender × Marital Status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4.27(3)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.234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.179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50% of cells &lt; 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933795754"/>
                  </a:ext>
                </a:extLst>
              </a:tr>
              <a:tr h="9748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Gender × Professional Role</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7.84(2)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.020*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.242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Adequate counts</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4078160743"/>
                  </a:ext>
                </a:extLst>
              </a:tr>
              <a:tr h="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Gender × ICU Experience Length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3.45(2)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.179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.161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33% of cells &lt; 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456532971"/>
                  </a:ext>
                </a:extLst>
              </a:tr>
              <a:tr h="21194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Professional Role × ICU Experience Length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18.12(4)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.327</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33% of cells &lt; 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870236416"/>
                  </a:ext>
                </a:extLst>
              </a:tr>
              <a:tr h="166531">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 × Professional Role</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1.000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Adequate counts</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058245511"/>
                  </a:ext>
                </a:extLst>
              </a:tr>
              <a:tr h="21442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 × Gender</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0.27(1)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.604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.045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Adequate counts</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119607069"/>
                  </a:ext>
                </a:extLst>
              </a:tr>
              <a:tr h="287567">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Marital Status × ICU Experience Length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3.11(6)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.795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.108</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66.7% of cells &lt; 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9441894"/>
                  </a:ext>
                </a:extLst>
              </a:tr>
            </a:tbl>
          </a:graphicData>
        </a:graphic>
      </p:graphicFrame>
    </p:spTree>
    <p:extLst>
      <p:ext uri="{BB962C8B-B14F-4D97-AF65-F5344CB8AC3E}">
        <p14:creationId xmlns:p14="http://schemas.microsoft.com/office/powerpoint/2010/main" val="16168158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Implications of the Socio-Demographic Profile</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6200" lvl="0">
              <a:buClr>
                <a:srgbClr val="C7D3E6"/>
              </a:buClr>
              <a:buSzPts val="2400"/>
            </a:pPr>
            <a:r>
              <a:rPr lang="en-US" sz="1900" b="1" dirty="0">
                <a:solidFill>
                  <a:srgbClr val="263248"/>
                </a:solidFill>
                <a:latin typeface="Roboto Condensed Light"/>
                <a:ea typeface="Roboto Condensed Light"/>
                <a:sym typeface="Roboto Condensed Light"/>
              </a:rPr>
              <a:t>Sample Representativeness and Composition </a:t>
            </a: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sample was evenly split by gender and largely concentrated in the 26–45 year age range, representing a relatively young-to-mid-career workforce.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high proportion of nurses (65.7%) reflects the staffing reality of ICU environments, where nurses are frontline providers.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Most participants reported 1–10 years of ICU experience, indicating a balance between early- and mid-career staff.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These distributions enhance the study’s ecological validity, as they mirror common ICU workforce structures in similar contexts.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76200" lvl="0">
              <a:buClr>
                <a:srgbClr val="C7D3E6"/>
              </a:buClr>
              <a:buSzPts val="2400"/>
            </a:pPr>
            <a:r>
              <a:rPr lang="en-US" sz="1900" b="1" dirty="0">
                <a:solidFill>
                  <a:srgbClr val="263248"/>
                </a:solidFill>
                <a:latin typeface="Roboto Condensed Light"/>
                <a:ea typeface="Roboto Condensed Light"/>
                <a:sym typeface="Roboto Condensed Light"/>
              </a:rPr>
              <a:t>Baseline Equivalence (Internal Validity)</a:t>
            </a:r>
            <a:r>
              <a:rPr lang="en-US" sz="1900" dirty="0">
                <a:solidFill>
                  <a:srgbClr val="263248"/>
                </a:solidFill>
                <a:latin typeface="Roboto Condensed Light"/>
                <a:ea typeface="Roboto Condensed Light"/>
                <a:sym typeface="Roboto Condensed Light"/>
              </a:rPr>
              <a:t> </a:t>
            </a:r>
          </a:p>
          <a:p>
            <a:pPr marL="457200" lvl="1"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Treatment and control groups did not differ significantly on any socio-demographic characteristic. </a:t>
            </a:r>
          </a:p>
          <a:p>
            <a:pPr marL="914400" indent="-381000">
              <a:buClr>
                <a:srgbClr val="C7D3E6">
                  <a:lumMod val="75000"/>
                </a:srgbClr>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p:txBody>
      </p:sp>
    </p:spTree>
    <p:extLst>
      <p:ext uri="{BB962C8B-B14F-4D97-AF65-F5344CB8AC3E}">
        <p14:creationId xmlns:p14="http://schemas.microsoft.com/office/powerpoint/2010/main" val="5795982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 ONE</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2400" dirty="0"/>
              <a:t>PTSD Prevalence among ICU Healthcare Professionals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14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2</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5828522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Frequency analysis </a:t>
            </a:r>
          </a:p>
          <a:p>
            <a:pPr lvl="0">
              <a:spcBef>
                <a:spcPts val="0"/>
              </a:spcBef>
            </a:pPr>
            <a:r>
              <a:rPr lang="en-US" sz="1900" dirty="0"/>
              <a:t>Created a binary categorical variable for PTSD status using the PCL-5 cut-off score (≥33 = probable PTSD, &lt;33 = no PTSD). </a:t>
            </a:r>
          </a:p>
          <a:p>
            <a:pPr lvl="1">
              <a:spcBef>
                <a:spcPts val="0"/>
              </a:spcBef>
              <a:buClr>
                <a:schemeClr val="accent4">
                  <a:lumMod val="75000"/>
                </a:schemeClr>
              </a:buClr>
            </a:pPr>
            <a:r>
              <a:rPr lang="en-US" sz="1900" dirty="0"/>
              <a:t>A binary outcome aligns with epidemiological reporting standards for prevalence studies, making results interpretable for policy and clinical audiences. </a:t>
            </a:r>
          </a:p>
          <a:p>
            <a:pPr lvl="0">
              <a:spcBef>
                <a:spcPts val="0"/>
              </a:spcBef>
            </a:pPr>
            <a:r>
              <a:rPr lang="en-US" sz="1900" dirty="0"/>
              <a:t> Computed frequencies and percentages to quantify the proportion of healthcare professionals meeting the PTSD cut-off. </a:t>
            </a:r>
          </a:p>
          <a:p>
            <a:pPr lvl="1">
              <a:spcBef>
                <a:spcPts val="0"/>
              </a:spcBef>
              <a:buClr>
                <a:schemeClr val="accent4">
                  <a:lumMod val="75000"/>
                </a:schemeClr>
              </a:buClr>
            </a:pPr>
            <a:r>
              <a:rPr lang="en-US" sz="1900" dirty="0"/>
              <a:t>Frequencies and percentages are the standard descriptive approach for nominal variables when summarizing prevalence.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15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755054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Chi-square test of independence analysis </a:t>
            </a:r>
          </a:p>
          <a:p>
            <a:pPr lvl="0">
              <a:spcBef>
                <a:spcPts val="0"/>
              </a:spcBef>
            </a:pPr>
            <a:r>
              <a:rPr lang="en-US" sz="1900" dirty="0"/>
              <a:t>Conducted to determine whether the proportion of probable PTSD cases differs significantly between the treatment and control groups at baseline. </a:t>
            </a:r>
          </a:p>
          <a:p>
            <a:pPr lvl="0">
              <a:spcBef>
                <a:spcPts val="0"/>
              </a:spcBef>
            </a:pPr>
            <a:r>
              <a:rPr lang="en-US" sz="1900" dirty="0"/>
              <a:t>The method was chosen because chi-square suits testing associations between two categorical variables.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15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724168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16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94633" y="4207306"/>
            <a:ext cx="6819900"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Cramer's </a:t>
            </a:r>
            <a:r>
              <a:rPr lang="en-US" i="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 .235, </a:t>
            </a:r>
            <a:r>
              <a:rPr lang="en-US" i="1"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 .007. Percentages are valid percentages.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4: Prevalence of Probable PTSD Among ICU Healthcare Professionals at Baseline  </a:t>
            </a:r>
          </a:p>
        </p:txBody>
      </p:sp>
      <p:graphicFrame>
        <p:nvGraphicFramePr>
          <p:cNvPr id="3" name="Table 2">
            <a:extLst>
              <a:ext uri="{FF2B5EF4-FFF2-40B4-BE49-F238E27FC236}">
                <a16:creationId xmlns:a16="http://schemas.microsoft.com/office/drawing/2014/main" id="{0998E601-3459-9248-9F85-A1F00159B9FA}"/>
              </a:ext>
            </a:extLst>
          </p:cNvPr>
          <p:cNvGraphicFramePr>
            <a:graphicFrameLocks noGrp="1"/>
          </p:cNvGraphicFramePr>
          <p:nvPr>
            <p:extLst>
              <p:ext uri="{D42A27DB-BD31-4B8C-83A1-F6EECF244321}">
                <p14:modId xmlns:p14="http://schemas.microsoft.com/office/powerpoint/2010/main" val="952160054"/>
              </p:ext>
            </p:extLst>
          </p:nvPr>
        </p:nvGraphicFramePr>
        <p:xfrm>
          <a:off x="394635" y="693419"/>
          <a:ext cx="8368363" cy="853440"/>
        </p:xfrm>
        <a:graphic>
          <a:graphicData uri="http://schemas.openxmlformats.org/drawingml/2006/table">
            <a:tbl>
              <a:tblPr firstRow="1" firstCol="1" bandRow="1"/>
              <a:tblGrid>
                <a:gridCol w="4554063">
                  <a:extLst>
                    <a:ext uri="{9D8B030D-6E8A-4147-A177-3AD203B41FA5}">
                      <a16:colId xmlns:a16="http://schemas.microsoft.com/office/drawing/2014/main" val="3970011821"/>
                    </a:ext>
                  </a:extLst>
                </a:gridCol>
                <a:gridCol w="1665304">
                  <a:extLst>
                    <a:ext uri="{9D8B030D-6E8A-4147-A177-3AD203B41FA5}">
                      <a16:colId xmlns:a16="http://schemas.microsoft.com/office/drawing/2014/main" val="120768061"/>
                    </a:ext>
                  </a:extLst>
                </a:gridCol>
                <a:gridCol w="2148996">
                  <a:extLst>
                    <a:ext uri="{9D8B030D-6E8A-4147-A177-3AD203B41FA5}">
                      <a16:colId xmlns:a16="http://schemas.microsoft.com/office/drawing/2014/main" val="785761174"/>
                    </a:ext>
                  </a:extLst>
                </a:gridCol>
              </a:tblGrid>
              <a:tr h="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PTSD Status</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7072727"/>
                  </a:ext>
                </a:extLst>
              </a:tr>
              <a:tr h="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PTSD unlikely</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5.2</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33264381"/>
                  </a:ext>
                </a:extLst>
              </a:tr>
              <a:tr h="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PTSD likely</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127</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94.8</a:t>
                      </a:r>
                    </a:p>
                  </a:txBody>
                  <a:tcPr marL="68580" marR="68580" marT="0" marB="0">
                    <a:lnL>
                      <a:noFill/>
                    </a:lnL>
                    <a:lnR>
                      <a:noFill/>
                    </a:lnR>
                    <a:lnT>
                      <a:noFill/>
                    </a:lnT>
                    <a:lnB>
                      <a:noFill/>
                    </a:lnB>
                  </a:tcPr>
                </a:tc>
                <a:extLst>
                  <a:ext uri="{0D108BD9-81ED-4DB2-BD59-A6C34878D82A}">
                    <a16:rowId xmlns:a16="http://schemas.microsoft.com/office/drawing/2014/main" val="1420857493"/>
                  </a:ext>
                </a:extLst>
              </a:tr>
              <a:tr h="0">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Total</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134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100.0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394473"/>
                  </a:ext>
                </a:extLst>
              </a:tr>
            </a:tbl>
          </a:graphicData>
        </a:graphic>
      </p:graphicFrame>
      <p:sp>
        <p:nvSpPr>
          <p:cNvPr id="8" name="Rectangle 7">
            <a:extLst>
              <a:ext uri="{FF2B5EF4-FFF2-40B4-BE49-F238E27FC236}">
                <a16:creationId xmlns:a16="http://schemas.microsoft.com/office/drawing/2014/main" id="{7A3EDB5A-1895-2745-A2EB-8944460B029C}"/>
              </a:ext>
            </a:extLst>
          </p:cNvPr>
          <p:cNvSpPr/>
          <p:nvPr/>
        </p:nvSpPr>
        <p:spPr>
          <a:xfrm>
            <a:off x="394634" y="1614506"/>
            <a:ext cx="8368363"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Percentages are valid percentages. Probable PTSD was defined using the PCL-5 clinical cut-off score (≥33).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Google Shape;213;p13">
            <a:extLst>
              <a:ext uri="{FF2B5EF4-FFF2-40B4-BE49-F238E27FC236}">
                <a16:creationId xmlns:a16="http://schemas.microsoft.com/office/drawing/2014/main" id="{5314196D-F839-654D-9DC1-95EFA3AEB386}"/>
              </a:ext>
            </a:extLst>
          </p:cNvPr>
          <p:cNvSpPr txBox="1">
            <a:spLocks/>
          </p:cNvSpPr>
          <p:nvPr/>
        </p:nvSpPr>
        <p:spPr>
          <a:xfrm>
            <a:off x="394633" y="2324537"/>
            <a:ext cx="8368363"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5: PTSD Status by Group at Baseline</a:t>
            </a:r>
          </a:p>
        </p:txBody>
      </p:sp>
      <p:graphicFrame>
        <p:nvGraphicFramePr>
          <p:cNvPr id="10" name="Table 9">
            <a:extLst>
              <a:ext uri="{FF2B5EF4-FFF2-40B4-BE49-F238E27FC236}">
                <a16:creationId xmlns:a16="http://schemas.microsoft.com/office/drawing/2014/main" id="{6DB8B395-FCC3-1A49-87B2-54466A57B65E}"/>
              </a:ext>
            </a:extLst>
          </p:cNvPr>
          <p:cNvGraphicFramePr>
            <a:graphicFrameLocks noGrp="1"/>
          </p:cNvGraphicFramePr>
          <p:nvPr>
            <p:extLst>
              <p:ext uri="{D42A27DB-BD31-4B8C-83A1-F6EECF244321}">
                <p14:modId xmlns:p14="http://schemas.microsoft.com/office/powerpoint/2010/main" val="2786306334"/>
              </p:ext>
            </p:extLst>
          </p:nvPr>
        </p:nvGraphicFramePr>
        <p:xfrm>
          <a:off x="394635" y="3111634"/>
          <a:ext cx="8368362" cy="853440"/>
        </p:xfrm>
        <a:graphic>
          <a:graphicData uri="http://schemas.openxmlformats.org/drawingml/2006/table">
            <a:tbl>
              <a:tblPr firstRow="1" firstCol="1" bandRow="1"/>
              <a:tblGrid>
                <a:gridCol w="1461116">
                  <a:extLst>
                    <a:ext uri="{9D8B030D-6E8A-4147-A177-3AD203B41FA5}">
                      <a16:colId xmlns:a16="http://schemas.microsoft.com/office/drawing/2014/main" val="2650152266"/>
                    </a:ext>
                  </a:extLst>
                </a:gridCol>
                <a:gridCol w="2758212">
                  <a:extLst>
                    <a:ext uri="{9D8B030D-6E8A-4147-A177-3AD203B41FA5}">
                      <a16:colId xmlns:a16="http://schemas.microsoft.com/office/drawing/2014/main" val="886654042"/>
                    </a:ext>
                  </a:extLst>
                </a:gridCol>
                <a:gridCol w="2477035">
                  <a:extLst>
                    <a:ext uri="{9D8B030D-6E8A-4147-A177-3AD203B41FA5}">
                      <a16:colId xmlns:a16="http://schemas.microsoft.com/office/drawing/2014/main" val="2674558522"/>
                    </a:ext>
                  </a:extLst>
                </a:gridCol>
                <a:gridCol w="1671999">
                  <a:extLst>
                    <a:ext uri="{9D8B030D-6E8A-4147-A177-3AD203B41FA5}">
                      <a16:colId xmlns:a16="http://schemas.microsoft.com/office/drawing/2014/main" val="2038011815"/>
                    </a:ext>
                  </a:extLst>
                </a:gridCol>
              </a:tblGrid>
              <a:tr h="15654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PTSD unlikely, n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PTSD likely, n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Total, n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054546"/>
                  </a:ext>
                </a:extLst>
              </a:tr>
              <a:tr h="15654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 (0.0)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67 (100.0)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67 (100.0)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01002311"/>
                  </a:ext>
                </a:extLst>
              </a:tr>
              <a:tr h="15654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 (10.4)</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60 (89.6)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67 (100.0)</a:t>
                      </a:r>
                    </a:p>
                  </a:txBody>
                  <a:tcPr marL="68580" marR="68580" marT="0" marB="0">
                    <a:lnL>
                      <a:noFill/>
                    </a:lnL>
                    <a:lnR>
                      <a:noFill/>
                    </a:lnR>
                    <a:lnT>
                      <a:noFill/>
                    </a:lnT>
                    <a:lnB>
                      <a:noFill/>
                    </a:lnB>
                  </a:tcPr>
                </a:tc>
                <a:extLst>
                  <a:ext uri="{0D108BD9-81ED-4DB2-BD59-A6C34878D82A}">
                    <a16:rowId xmlns:a16="http://schemas.microsoft.com/office/drawing/2014/main" val="2687544535"/>
                  </a:ext>
                </a:extLst>
              </a:tr>
              <a:tr h="15654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Total</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 (5.2)</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127 (94.8)</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134 (100.0)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2451667"/>
                  </a:ext>
                </a:extLst>
              </a:tr>
            </a:tbl>
          </a:graphicData>
        </a:graphic>
      </p:graphicFrame>
    </p:spTree>
    <p:extLst>
      <p:ext uri="{BB962C8B-B14F-4D97-AF65-F5344CB8AC3E}">
        <p14:creationId xmlns:p14="http://schemas.microsoft.com/office/powerpoint/2010/main" val="16069007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Implications of the PTSD Prevalence Results </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significant baseline difference in PTSD prevalence between the control and treatment groups suggests a potential confounding factor that should be accounted for in subsequent analyses, particularly when evaluating intervention effects.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finding also warrants careful consideration of baseline imbalances in PTSD status when interpreting outcome changes</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A need for targeted mental health interventions for ICU professionals exists. </a:t>
            </a:r>
          </a:p>
        </p:txBody>
      </p:sp>
    </p:spTree>
    <p:extLst>
      <p:ext uri="{BB962C8B-B14F-4D97-AF65-F5344CB8AC3E}">
        <p14:creationId xmlns:p14="http://schemas.microsoft.com/office/powerpoint/2010/main" val="21217378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 TWO </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2400" dirty="0"/>
              <a:t>Socio-Demographic Influence on the Severity of PTSD Symptoms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17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3</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42196319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Descriptive analysis </a:t>
            </a:r>
          </a:p>
          <a:p>
            <a:pPr lvl="0">
              <a:spcBef>
                <a:spcPts val="0"/>
              </a:spcBef>
            </a:pPr>
            <a:r>
              <a:rPr lang="en-US" sz="1900" dirty="0"/>
              <a:t>Computed means, standard deviations (SDs), and 95% confidence intervals (CIs) for means to: </a:t>
            </a:r>
          </a:p>
          <a:p>
            <a:pPr lvl="1">
              <a:spcBef>
                <a:spcPts val="0"/>
              </a:spcBef>
              <a:buClr>
                <a:schemeClr val="accent4">
                  <a:lumMod val="75000"/>
                </a:schemeClr>
              </a:buClr>
            </a:pPr>
            <a:r>
              <a:rPr lang="en-US" sz="1900" dirty="0"/>
              <a:t>Describe the distribution of PTSD scores overall and by each socio-demographic group </a:t>
            </a:r>
          </a:p>
          <a:p>
            <a:pPr lvl="1">
              <a:spcBef>
                <a:spcPts val="0"/>
              </a:spcBef>
              <a:buClr>
                <a:schemeClr val="accent4">
                  <a:lumMod val="75000"/>
                </a:schemeClr>
              </a:buClr>
            </a:pPr>
            <a:r>
              <a:rPr lang="en-US" sz="1900" dirty="0"/>
              <a:t>Check for obvious anomalies/outliers through descriptive statistics. </a:t>
            </a:r>
          </a:p>
          <a:p>
            <a:pPr lvl="0">
              <a:spcBef>
                <a:spcPts val="0"/>
              </a:spcBef>
            </a:pPr>
            <a:r>
              <a:rPr lang="en-US" sz="1900" dirty="0"/>
              <a:t>Categories were collapsed for analysis to avoid small cell counts. </a:t>
            </a:r>
          </a:p>
          <a:p>
            <a:pPr lvl="1">
              <a:spcBef>
                <a:spcPts val="0"/>
              </a:spcBef>
              <a:buClr>
                <a:schemeClr val="accent4">
                  <a:lumMod val="75000"/>
                </a:schemeClr>
              </a:buClr>
            </a:pPr>
            <a:r>
              <a:rPr lang="en-US" sz="1900" dirty="0"/>
              <a:t>This ensured stable estimates, met minimum cell sizes, and reduced assumption violations (e.g., heterogeneity of variance) given N=134. </a:t>
            </a:r>
          </a:p>
          <a:p>
            <a:pPr lvl="0">
              <a:spcBef>
                <a:spcPts val="0"/>
              </a:spcBef>
            </a:pPr>
            <a:r>
              <a:rPr lang="en-US" sz="1900" dirty="0"/>
              <a:t>This approach was chosen because it: </a:t>
            </a:r>
          </a:p>
          <a:p>
            <a:pPr lvl="1">
              <a:spcBef>
                <a:spcPts val="0"/>
              </a:spcBef>
              <a:buClr>
                <a:schemeClr val="accent4">
                  <a:lumMod val="75000"/>
                </a:schemeClr>
              </a:buClr>
            </a:pPr>
            <a:r>
              <a:rPr lang="en-US" sz="1900" dirty="0"/>
              <a:t>Aligns with APA/biostatistical practice to present means/SDs before tests.</a:t>
            </a:r>
          </a:p>
          <a:p>
            <a:pPr lvl="1">
              <a:spcBef>
                <a:spcPts val="0"/>
              </a:spcBef>
              <a:buClr>
                <a:schemeClr val="accent4">
                  <a:lumMod val="75000"/>
                </a:schemeClr>
              </a:buClr>
            </a:pPr>
            <a:r>
              <a:rPr lang="en-US" sz="1900" dirty="0"/>
              <a:t>Provides context for the inferential results.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18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999051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6 : Descriptive Statistics of PTSD Symptom Severity by Socio-Demographic Characteristics at Baseline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19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64355" y="2992690"/>
            <a:ext cx="8596765" cy="738664"/>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PTSD symptom severity measured with the PCL-5. Higher scores indicate greater symptom severity. Categories reflect collapsed groups for inferential analysis; original distributions are reported in the socio-demographic profile. CI = confidence interval; SD = standard deviation.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E01DBA6-00B2-0C4F-9FCB-1D85393FBBB0}"/>
              </a:ext>
            </a:extLst>
          </p:cNvPr>
          <p:cNvGraphicFramePr>
            <a:graphicFrameLocks noGrp="1"/>
          </p:cNvGraphicFramePr>
          <p:nvPr>
            <p:extLst>
              <p:ext uri="{D42A27DB-BD31-4B8C-83A1-F6EECF244321}">
                <p14:modId xmlns:p14="http://schemas.microsoft.com/office/powerpoint/2010/main" val="814530488"/>
              </p:ext>
            </p:extLst>
          </p:nvPr>
        </p:nvGraphicFramePr>
        <p:xfrm>
          <a:off x="364357" y="739138"/>
          <a:ext cx="8596765" cy="2254000"/>
        </p:xfrm>
        <a:graphic>
          <a:graphicData uri="http://schemas.openxmlformats.org/drawingml/2006/table">
            <a:tbl>
              <a:tblPr firstRow="1" firstCol="1" bandRow="1"/>
              <a:tblGrid>
                <a:gridCol w="2553750">
                  <a:extLst>
                    <a:ext uri="{9D8B030D-6E8A-4147-A177-3AD203B41FA5}">
                      <a16:colId xmlns:a16="http://schemas.microsoft.com/office/drawing/2014/main" val="3766988185"/>
                    </a:ext>
                  </a:extLst>
                </a:gridCol>
                <a:gridCol w="1790204">
                  <a:extLst>
                    <a:ext uri="{9D8B030D-6E8A-4147-A177-3AD203B41FA5}">
                      <a16:colId xmlns:a16="http://schemas.microsoft.com/office/drawing/2014/main" val="905659936"/>
                    </a:ext>
                  </a:extLst>
                </a:gridCol>
                <a:gridCol w="650046">
                  <a:extLst>
                    <a:ext uri="{9D8B030D-6E8A-4147-A177-3AD203B41FA5}">
                      <a16:colId xmlns:a16="http://schemas.microsoft.com/office/drawing/2014/main" val="1834899301"/>
                    </a:ext>
                  </a:extLst>
                </a:gridCol>
                <a:gridCol w="846092">
                  <a:extLst>
                    <a:ext uri="{9D8B030D-6E8A-4147-A177-3AD203B41FA5}">
                      <a16:colId xmlns:a16="http://schemas.microsoft.com/office/drawing/2014/main" val="1448635515"/>
                    </a:ext>
                  </a:extLst>
                </a:gridCol>
                <a:gridCol w="713673">
                  <a:extLst>
                    <a:ext uri="{9D8B030D-6E8A-4147-A177-3AD203B41FA5}">
                      <a16:colId xmlns:a16="http://schemas.microsoft.com/office/drawing/2014/main" val="3598349947"/>
                    </a:ext>
                  </a:extLst>
                </a:gridCol>
                <a:gridCol w="2043000">
                  <a:extLst>
                    <a:ext uri="{9D8B030D-6E8A-4147-A177-3AD203B41FA5}">
                      <a16:colId xmlns:a16="http://schemas.microsoft.com/office/drawing/2014/main" val="3688180994"/>
                    </a:ext>
                  </a:extLst>
                </a:gridCol>
              </a:tblGrid>
              <a:tr h="241225">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Variable</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Category</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i="1">
                          <a:effectLst/>
                          <a:latin typeface="Times New Roman" panose="02020603050405020304" pitchFamily="18" charset="0"/>
                          <a:ea typeface="Calibri" panose="020F0502020204030204" pitchFamily="34" charset="0"/>
                          <a:cs typeface="Times New Roman" panose="02020603050405020304" pitchFamily="18" charset="0"/>
                        </a:rPr>
                        <a:t>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Mean</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SD</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for Mean</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149667"/>
                  </a:ext>
                </a:extLst>
              </a:tr>
              <a:tr h="24117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Overall</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134</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42.22</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5.55</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[41.27, 43.17]</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777184398"/>
                  </a:ext>
                </a:extLst>
              </a:tr>
              <a:tr h="24117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Age group</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Up to 35 years</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90</a:t>
                      </a:r>
                    </a:p>
                  </a:txBody>
                  <a:tcPr marL="67039" marR="67039" marT="0" marB="0">
                    <a:lnL>
                      <a:noFill/>
                    </a:lnL>
                    <a:lnR>
                      <a:noFill/>
                    </a:lnR>
                    <a:lnT>
                      <a:noFill/>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41.79</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5.31</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[40.60, 42.99]</a:t>
                      </a:r>
                    </a:p>
                  </a:txBody>
                  <a:tcPr marL="67039" marR="67039" marT="0" marB="0">
                    <a:lnL>
                      <a:noFill/>
                    </a:lnL>
                    <a:lnR>
                      <a:noFill/>
                    </a:lnR>
                    <a:lnT>
                      <a:noFill/>
                    </a:lnT>
                    <a:lnB>
                      <a:noFill/>
                    </a:lnB>
                  </a:tcPr>
                </a:tc>
                <a:extLst>
                  <a:ext uri="{0D108BD9-81ED-4DB2-BD59-A6C34878D82A}">
                    <a16:rowId xmlns:a16="http://schemas.microsoft.com/office/drawing/2014/main" val="928484684"/>
                  </a:ext>
                </a:extLst>
              </a:tr>
              <a:tr h="241170">
                <a:tc>
                  <a:txBody>
                    <a:bodyPr/>
                    <a:lstStyle/>
                    <a:p>
                      <a:endParaRPr lang="en-US" sz="1400">
                        <a:effectLst/>
                        <a:latin typeface="Times New Roman" panose="02020603050405020304" pitchFamily="18"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36+ years</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44</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42.82</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5.88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[41.25, 44.39]</a:t>
                      </a:r>
                    </a:p>
                  </a:txBody>
                  <a:tcPr marL="67039" marR="67039" marT="0" marB="0">
                    <a:lnL>
                      <a:noFill/>
                    </a:lnL>
                    <a:lnR>
                      <a:noFill/>
                    </a:lnR>
                    <a:lnT>
                      <a:noFill/>
                    </a:lnT>
                    <a:lnB>
                      <a:noFill/>
                    </a:lnB>
                  </a:tcPr>
                </a:tc>
                <a:extLst>
                  <a:ext uri="{0D108BD9-81ED-4DB2-BD59-A6C34878D82A}">
                    <a16:rowId xmlns:a16="http://schemas.microsoft.com/office/drawing/2014/main" val="3526755926"/>
                  </a:ext>
                </a:extLst>
              </a:tr>
              <a:tr h="24117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Marital status</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Married</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69</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41.88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5.78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[40.49, 43.27]</a:t>
                      </a:r>
                    </a:p>
                  </a:txBody>
                  <a:tcPr marL="67039" marR="67039" marT="0" marB="0">
                    <a:lnL>
                      <a:noFill/>
                    </a:lnL>
                    <a:lnR>
                      <a:noFill/>
                    </a:lnR>
                    <a:lnT>
                      <a:noFill/>
                    </a:lnT>
                    <a:lnB>
                      <a:noFill/>
                    </a:lnB>
                  </a:tcPr>
                </a:tc>
                <a:extLst>
                  <a:ext uri="{0D108BD9-81ED-4DB2-BD59-A6C34878D82A}">
                    <a16:rowId xmlns:a16="http://schemas.microsoft.com/office/drawing/2014/main" val="3709327969"/>
                  </a:ext>
                </a:extLst>
              </a:tr>
              <a:tr h="241170">
                <a:tc>
                  <a:txBody>
                    <a:bodyPr/>
                    <a:lstStyle/>
                    <a:p>
                      <a:endParaRPr lang="en-US" sz="1400">
                        <a:effectLst/>
                        <a:latin typeface="Times New Roman" panose="02020603050405020304" pitchFamily="18"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Unmarried</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65</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42.58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5.32</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[41.27, 43.90]</a:t>
                      </a:r>
                    </a:p>
                  </a:txBody>
                  <a:tcPr marL="67039" marR="67039" marT="0" marB="0">
                    <a:lnL>
                      <a:noFill/>
                    </a:lnL>
                    <a:lnR>
                      <a:noFill/>
                    </a:lnR>
                    <a:lnT>
                      <a:noFill/>
                    </a:lnT>
                    <a:lnB>
                      <a:noFill/>
                    </a:lnB>
                  </a:tcPr>
                </a:tc>
                <a:extLst>
                  <a:ext uri="{0D108BD9-81ED-4DB2-BD59-A6C34878D82A}">
                    <a16:rowId xmlns:a16="http://schemas.microsoft.com/office/drawing/2014/main" val="3237407152"/>
                  </a:ext>
                </a:extLst>
              </a:tr>
              <a:tr h="24117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ICU experience length</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Up to 5 years</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66</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42.33</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6.24</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[40.80, 43.87]</a:t>
                      </a:r>
                    </a:p>
                  </a:txBody>
                  <a:tcPr marL="67039" marR="67039" marT="0" marB="0">
                    <a:lnL>
                      <a:noFill/>
                    </a:lnL>
                    <a:lnR>
                      <a:noFill/>
                    </a:lnR>
                    <a:lnT>
                      <a:noFill/>
                    </a:lnT>
                    <a:lnB>
                      <a:noFill/>
                    </a:lnB>
                  </a:tcPr>
                </a:tc>
                <a:extLst>
                  <a:ext uri="{0D108BD9-81ED-4DB2-BD59-A6C34878D82A}">
                    <a16:rowId xmlns:a16="http://schemas.microsoft.com/office/drawing/2014/main" val="3167928606"/>
                  </a:ext>
                </a:extLst>
              </a:tr>
              <a:tr h="241170">
                <a:tc>
                  <a:txBody>
                    <a:bodyPr/>
                    <a:lstStyle/>
                    <a:p>
                      <a:endParaRPr lang="en-US" sz="1400">
                        <a:effectLst/>
                        <a:latin typeface="Times New Roman" panose="02020603050405020304" pitchFamily="18" charset="0"/>
                        <a:cs typeface="Times New Roman" panose="02020603050405020304" pitchFamily="18" charset="0"/>
                      </a:endParaRP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 years</a:t>
                      </a: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68</a:t>
                      </a: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42.12</a:t>
                      </a: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4.84</a:t>
                      </a: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[40.95, 43.29]</a:t>
                      </a:r>
                    </a:p>
                  </a:txBody>
                  <a:tcPr marL="67039" marR="67039" marT="0" marB="0">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0965645"/>
                  </a:ext>
                </a:extLst>
              </a:tr>
            </a:tbl>
          </a:graphicData>
        </a:graphic>
      </p:graphicFrame>
    </p:spTree>
    <p:extLst>
      <p:ext uri="{BB962C8B-B14F-4D97-AF65-F5344CB8AC3E}">
        <p14:creationId xmlns:p14="http://schemas.microsoft.com/office/powerpoint/2010/main" val="94367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6 : Descriptive Statistics of PTSD Symptom Severity by Socio-Demographic Characteristics at Baseline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64353" y="3228657"/>
            <a:ext cx="8596766" cy="738664"/>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PTSD symptom severity measured with the PCL-5. Higher scores indicate greater symptom severity. Categories reflect collapsed groups for inferential analysis; original distributions are reported in the socio-demographic profile. CI = confidence interval; SD = standard deviation.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E01DBA6-00B2-0C4F-9FCB-1D85393FBBB0}"/>
              </a:ext>
            </a:extLst>
          </p:cNvPr>
          <p:cNvGraphicFramePr>
            <a:graphicFrameLocks noGrp="1"/>
          </p:cNvGraphicFramePr>
          <p:nvPr>
            <p:extLst>
              <p:ext uri="{D42A27DB-BD31-4B8C-83A1-F6EECF244321}">
                <p14:modId xmlns:p14="http://schemas.microsoft.com/office/powerpoint/2010/main" val="23637540"/>
              </p:ext>
            </p:extLst>
          </p:nvPr>
        </p:nvGraphicFramePr>
        <p:xfrm>
          <a:off x="364355" y="693419"/>
          <a:ext cx="8596764" cy="2535750"/>
        </p:xfrm>
        <a:graphic>
          <a:graphicData uri="http://schemas.openxmlformats.org/drawingml/2006/table">
            <a:tbl>
              <a:tblPr firstRow="1" firstCol="1" bandRow="1"/>
              <a:tblGrid>
                <a:gridCol w="2553749">
                  <a:extLst>
                    <a:ext uri="{9D8B030D-6E8A-4147-A177-3AD203B41FA5}">
                      <a16:colId xmlns:a16="http://schemas.microsoft.com/office/drawing/2014/main" val="3766988185"/>
                    </a:ext>
                  </a:extLst>
                </a:gridCol>
                <a:gridCol w="1790204">
                  <a:extLst>
                    <a:ext uri="{9D8B030D-6E8A-4147-A177-3AD203B41FA5}">
                      <a16:colId xmlns:a16="http://schemas.microsoft.com/office/drawing/2014/main" val="905659936"/>
                    </a:ext>
                  </a:extLst>
                </a:gridCol>
                <a:gridCol w="650046">
                  <a:extLst>
                    <a:ext uri="{9D8B030D-6E8A-4147-A177-3AD203B41FA5}">
                      <a16:colId xmlns:a16="http://schemas.microsoft.com/office/drawing/2014/main" val="1834899301"/>
                    </a:ext>
                  </a:extLst>
                </a:gridCol>
                <a:gridCol w="846092">
                  <a:extLst>
                    <a:ext uri="{9D8B030D-6E8A-4147-A177-3AD203B41FA5}">
                      <a16:colId xmlns:a16="http://schemas.microsoft.com/office/drawing/2014/main" val="1448635515"/>
                    </a:ext>
                  </a:extLst>
                </a:gridCol>
                <a:gridCol w="713673">
                  <a:extLst>
                    <a:ext uri="{9D8B030D-6E8A-4147-A177-3AD203B41FA5}">
                      <a16:colId xmlns:a16="http://schemas.microsoft.com/office/drawing/2014/main" val="3598349947"/>
                    </a:ext>
                  </a:extLst>
                </a:gridCol>
                <a:gridCol w="2043000">
                  <a:extLst>
                    <a:ext uri="{9D8B030D-6E8A-4147-A177-3AD203B41FA5}">
                      <a16:colId xmlns:a16="http://schemas.microsoft.com/office/drawing/2014/main" val="3688180994"/>
                    </a:ext>
                  </a:extLst>
                </a:gridCol>
              </a:tblGrid>
              <a:tr h="19671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Variable</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Category</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i="1">
                          <a:effectLst/>
                          <a:latin typeface="Times New Roman" panose="02020603050405020304" pitchFamily="18" charset="0"/>
                          <a:ea typeface="Calibri" panose="020F0502020204030204" pitchFamily="34" charset="0"/>
                          <a:cs typeface="Times New Roman" panose="02020603050405020304" pitchFamily="18" charset="0"/>
                        </a:rPr>
                        <a:t>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Mean</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SD</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for Mean</a:t>
                      </a:r>
                    </a:p>
                  </a:txBody>
                  <a:tcPr marL="67039" marR="6703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149667"/>
                  </a:ext>
                </a:extLst>
              </a:tr>
              <a:tr h="196648">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Gender</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Female</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67</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41.97</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5.66</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[40.59, 43.35]</a:t>
                      </a:r>
                    </a:p>
                  </a:txBody>
                  <a:tcPr marL="67039" marR="67039"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26635841"/>
                  </a:ext>
                </a:extLst>
              </a:tr>
              <a:tr h="196648">
                <a:tc>
                  <a:txBody>
                    <a:bodyPr/>
                    <a:lstStyle/>
                    <a:p>
                      <a:endParaRPr lang="en-US" sz="1400" dirty="0">
                        <a:effectLst/>
                        <a:latin typeface="Calibri" panose="020F0502020204030204" pitchFamily="34"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Male</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67</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42.48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5.48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[41.14, 43.81]</a:t>
                      </a:r>
                    </a:p>
                  </a:txBody>
                  <a:tcPr marL="67039" marR="67039" marT="0" marB="0">
                    <a:lnL>
                      <a:noFill/>
                    </a:lnL>
                    <a:lnR>
                      <a:noFill/>
                    </a:lnR>
                    <a:lnT>
                      <a:noFill/>
                    </a:lnT>
                    <a:lnB>
                      <a:noFill/>
                    </a:lnB>
                  </a:tcPr>
                </a:tc>
                <a:extLst>
                  <a:ext uri="{0D108BD9-81ED-4DB2-BD59-A6C34878D82A}">
                    <a16:rowId xmlns:a16="http://schemas.microsoft.com/office/drawing/2014/main" val="1529348893"/>
                  </a:ext>
                </a:extLst>
              </a:tr>
              <a:tr h="196648">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Role</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Nurse</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42.19</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5.68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[40.99, 43.40]</a:t>
                      </a:r>
                    </a:p>
                  </a:txBody>
                  <a:tcPr marL="67039" marR="67039" marT="0" marB="0">
                    <a:lnL>
                      <a:noFill/>
                    </a:lnL>
                    <a:lnR>
                      <a:noFill/>
                    </a:lnR>
                    <a:lnT>
                      <a:noFill/>
                    </a:lnT>
                    <a:lnB>
                      <a:noFill/>
                    </a:lnB>
                  </a:tcPr>
                </a:tc>
                <a:extLst>
                  <a:ext uri="{0D108BD9-81ED-4DB2-BD59-A6C34878D82A}">
                    <a16:rowId xmlns:a16="http://schemas.microsoft.com/office/drawing/2014/main" val="2514748610"/>
                  </a:ext>
                </a:extLst>
              </a:tr>
              <a:tr h="196648">
                <a:tc>
                  <a:txBody>
                    <a:bodyPr/>
                    <a:lstStyle/>
                    <a:p>
                      <a:endParaRPr lang="en-US" sz="1400" dirty="0">
                        <a:effectLst/>
                        <a:latin typeface="Calibri" panose="020F0502020204030204" pitchFamily="34"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Physician</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40.85</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5.41</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[38.32, 43.38]</a:t>
                      </a:r>
                    </a:p>
                  </a:txBody>
                  <a:tcPr marL="67039" marR="67039" marT="0" marB="0">
                    <a:lnL>
                      <a:noFill/>
                    </a:lnL>
                    <a:lnR>
                      <a:noFill/>
                    </a:lnR>
                    <a:lnT>
                      <a:noFill/>
                    </a:lnT>
                    <a:lnB>
                      <a:noFill/>
                    </a:lnB>
                  </a:tcPr>
                </a:tc>
                <a:extLst>
                  <a:ext uri="{0D108BD9-81ED-4DB2-BD59-A6C34878D82A}">
                    <a16:rowId xmlns:a16="http://schemas.microsoft.com/office/drawing/2014/main" val="1756293897"/>
                  </a:ext>
                </a:extLst>
              </a:tr>
              <a:tr h="196648">
                <a:tc>
                  <a:txBody>
                    <a:bodyPr/>
                    <a:lstStyle/>
                    <a:p>
                      <a:endParaRPr lang="en-US" sz="1400" dirty="0">
                        <a:effectLst/>
                        <a:latin typeface="Calibri" panose="020F0502020204030204" pitchFamily="34"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Support staff</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26</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43.38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5.16</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[41.30, 45.47]</a:t>
                      </a:r>
                    </a:p>
                  </a:txBody>
                  <a:tcPr marL="67039" marR="67039" marT="0" marB="0">
                    <a:lnL>
                      <a:noFill/>
                    </a:lnL>
                    <a:lnR>
                      <a:noFill/>
                    </a:lnR>
                    <a:lnT>
                      <a:noFill/>
                    </a:lnT>
                    <a:lnB>
                      <a:noFill/>
                    </a:lnB>
                  </a:tcPr>
                </a:tc>
                <a:extLst>
                  <a:ext uri="{0D108BD9-81ED-4DB2-BD59-A6C34878D82A}">
                    <a16:rowId xmlns:a16="http://schemas.microsoft.com/office/drawing/2014/main" val="2836175119"/>
                  </a:ext>
                </a:extLst>
              </a:tr>
              <a:tr h="196648">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Working hours</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Below average</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47</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42.30</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5.63</a:t>
                      </a:r>
                    </a:p>
                  </a:txBody>
                  <a:tcPr marL="67039" marR="67039" marT="0" marB="0">
                    <a:lnL>
                      <a:noFill/>
                    </a:lnL>
                    <a:lnR>
                      <a:noFill/>
                    </a:lnR>
                    <a:lnT>
                      <a:noFill/>
                    </a:lnT>
                    <a:lnB>
                      <a:noFill/>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[40.64, 43.95]</a:t>
                      </a:r>
                    </a:p>
                  </a:txBody>
                  <a:tcPr marL="67039" marR="67039" marT="0" marB="0">
                    <a:lnL>
                      <a:noFill/>
                    </a:lnL>
                    <a:lnR>
                      <a:noFill/>
                    </a:lnR>
                    <a:lnT>
                      <a:noFill/>
                    </a:lnT>
                    <a:lnB>
                      <a:noFill/>
                    </a:lnB>
                  </a:tcPr>
                </a:tc>
                <a:extLst>
                  <a:ext uri="{0D108BD9-81ED-4DB2-BD59-A6C34878D82A}">
                    <a16:rowId xmlns:a16="http://schemas.microsoft.com/office/drawing/2014/main" val="1979207701"/>
                  </a:ext>
                </a:extLst>
              </a:tr>
              <a:tr h="196648">
                <a:tc>
                  <a:txBody>
                    <a:bodyPr/>
                    <a:lstStyle/>
                    <a:p>
                      <a:endParaRPr lang="en-US" sz="1400" dirty="0">
                        <a:effectLst/>
                        <a:latin typeface="Calibri" panose="020F0502020204030204" pitchFamily="34" charset="0"/>
                        <a:cs typeface="Times New Roman" panose="02020603050405020304" pitchFamily="18" charset="0"/>
                      </a:endParaRP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Average</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42.08</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5.57</a:t>
                      </a:r>
                    </a:p>
                  </a:txBody>
                  <a:tcPr marL="67039" marR="67039"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[40.47, 43.70]</a:t>
                      </a:r>
                    </a:p>
                  </a:txBody>
                  <a:tcPr marL="67039" marR="67039" marT="0" marB="0">
                    <a:lnL>
                      <a:noFill/>
                    </a:lnL>
                    <a:lnR>
                      <a:noFill/>
                    </a:lnR>
                    <a:lnT>
                      <a:noFill/>
                    </a:lnT>
                    <a:lnB>
                      <a:noFill/>
                    </a:lnB>
                  </a:tcPr>
                </a:tc>
                <a:extLst>
                  <a:ext uri="{0D108BD9-81ED-4DB2-BD59-A6C34878D82A}">
                    <a16:rowId xmlns:a16="http://schemas.microsoft.com/office/drawing/2014/main" val="1451018144"/>
                  </a:ext>
                </a:extLst>
              </a:tr>
              <a:tr h="196648">
                <a:tc>
                  <a:txBody>
                    <a:bodyPr/>
                    <a:lstStyle/>
                    <a:p>
                      <a:endParaRPr lang="en-US" sz="1400" dirty="0">
                        <a:effectLst/>
                        <a:latin typeface="Calibri" panose="020F0502020204030204" pitchFamily="34" charset="0"/>
                        <a:cs typeface="Times New Roman" panose="02020603050405020304" pitchFamily="18" charset="0"/>
                      </a:endParaRP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Above average</a:t>
                      </a: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39</a:t>
                      </a: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42.31</a:t>
                      </a: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5.58</a:t>
                      </a: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[40.50, 44.12]</a:t>
                      </a:r>
                    </a:p>
                  </a:txBody>
                  <a:tcPr marL="67039" marR="67039"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391345"/>
                  </a:ext>
                </a:extLst>
              </a:tr>
            </a:tbl>
          </a:graphicData>
        </a:graphic>
      </p:graphicFrame>
    </p:spTree>
    <p:extLst>
      <p:ext uri="{BB962C8B-B14F-4D97-AF65-F5344CB8AC3E}">
        <p14:creationId xmlns:p14="http://schemas.microsoft.com/office/powerpoint/2010/main" val="33187500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General linear model (GLM) – univariate analysis  </a:t>
            </a:r>
          </a:p>
          <a:p>
            <a:pPr lvl="0">
              <a:spcBef>
                <a:spcPts val="0"/>
              </a:spcBef>
            </a:pPr>
            <a:r>
              <a:rPr lang="en-US" sz="1900" dirty="0"/>
              <a:t>A main effects only model was run to check for the relationship between PTSD symptom severity and participant socio-demographic characteristics. </a:t>
            </a:r>
          </a:p>
          <a:p>
            <a:pPr lvl="1">
              <a:spcBef>
                <a:spcPts val="0"/>
              </a:spcBef>
              <a:buClr>
                <a:schemeClr val="accent4">
                  <a:lumMod val="75000"/>
                </a:schemeClr>
              </a:buClr>
            </a:pPr>
            <a:r>
              <a:rPr lang="en-US" sz="1900" dirty="0"/>
              <a:t>Homogeneity of variances was assessed </a:t>
            </a:r>
          </a:p>
          <a:p>
            <a:pPr lvl="1">
              <a:spcBef>
                <a:spcPts val="0"/>
              </a:spcBef>
              <a:buClr>
                <a:schemeClr val="accent4">
                  <a:lumMod val="75000"/>
                </a:schemeClr>
              </a:buClr>
            </a:pPr>
            <a:r>
              <a:rPr lang="en-US" sz="1900" dirty="0"/>
              <a:t>Effect size, partial eta-squared (</a:t>
            </a:r>
            <a:r>
              <a:rPr lang="el-GR" sz="1900" dirty="0"/>
              <a:t>η</a:t>
            </a:r>
            <a:r>
              <a:rPr lang="en-US" sz="1900" dirty="0"/>
              <a:t>p²), was reported for each factor </a:t>
            </a:r>
          </a:p>
          <a:p>
            <a:pPr lvl="0">
              <a:spcBef>
                <a:spcPts val="0"/>
              </a:spcBef>
            </a:pPr>
            <a:r>
              <a:rPr lang="en-US" sz="1900" dirty="0"/>
              <a:t>This approach was chosen because: </a:t>
            </a:r>
          </a:p>
          <a:p>
            <a:pPr lvl="1">
              <a:spcBef>
                <a:spcPts val="0"/>
              </a:spcBef>
              <a:buClr>
                <a:schemeClr val="accent4">
                  <a:lumMod val="75000"/>
                </a:schemeClr>
              </a:buClr>
            </a:pPr>
            <a:r>
              <a:rPr lang="en-US" sz="1900" dirty="0"/>
              <a:t>It handles a continuous outcome with multiple categorical predictors in one model, giving adjusted (confounder-controlled) tests for each factor. </a:t>
            </a:r>
          </a:p>
          <a:p>
            <a:pPr lvl="1">
              <a:spcBef>
                <a:spcPts val="0"/>
              </a:spcBef>
              <a:buClr>
                <a:schemeClr val="accent4">
                  <a:lumMod val="75000"/>
                </a:schemeClr>
              </a:buClr>
            </a:pPr>
            <a:r>
              <a:rPr lang="en-US" sz="1900" dirty="0"/>
              <a:t>Simultaneous entry prevents misleading one-by-one results due to confounding (e.g., role vs. working hours overlap).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21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515589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22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70162" y="4207306"/>
            <a:ext cx="6819900" cy="523220"/>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Partial </a:t>
            </a:r>
            <a:r>
              <a:rPr lang="el-GR" dirty="0">
                <a:latin typeface="Times New Roman" panose="02020603050405020304" pitchFamily="18" charset="0"/>
                <a:cs typeface="Times New Roman" panose="02020603050405020304" pitchFamily="18" charset="0"/>
              </a:rPr>
              <a:t>η² </a:t>
            </a:r>
            <a:r>
              <a:rPr lang="en-US" dirty="0">
                <a:latin typeface="Times New Roman" panose="02020603050405020304" pitchFamily="18" charset="0"/>
                <a:cs typeface="Times New Roman" panose="02020603050405020304" pitchFamily="18" charset="0"/>
              </a:rPr>
              <a:t>values represent the proportion of variance in baseline PTSD scores uniquely explained by each predictor after accounting for other variables in the model.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7: </a:t>
            </a:r>
            <a:r>
              <a:rPr lang="en-US" dirty="0" err="1">
                <a:solidFill>
                  <a:schemeClr val="accent5"/>
                </a:solidFill>
                <a:latin typeface="Times New Roman" panose="02020603050405020304" pitchFamily="18" charset="0"/>
                <a:cs typeface="Times New Roman" panose="02020603050405020304" pitchFamily="18" charset="0"/>
              </a:rPr>
              <a:t>Levene’s</a:t>
            </a:r>
            <a:r>
              <a:rPr lang="en-US" dirty="0">
                <a:solidFill>
                  <a:schemeClr val="accent5"/>
                </a:solidFill>
                <a:latin typeface="Times New Roman" panose="02020603050405020304" pitchFamily="18" charset="0"/>
                <a:cs typeface="Times New Roman" panose="02020603050405020304" pitchFamily="18" charset="0"/>
              </a:rPr>
              <a:t> Test of Equality of Error Variances for Baseline PTSD Score   </a:t>
            </a:r>
          </a:p>
        </p:txBody>
      </p:sp>
      <p:sp>
        <p:nvSpPr>
          <p:cNvPr id="8" name="Rectangle 7">
            <a:extLst>
              <a:ext uri="{FF2B5EF4-FFF2-40B4-BE49-F238E27FC236}">
                <a16:creationId xmlns:a16="http://schemas.microsoft.com/office/drawing/2014/main" id="{7A3EDB5A-1895-2745-A2EB-8944460B029C}"/>
              </a:ext>
            </a:extLst>
          </p:cNvPr>
          <p:cNvSpPr/>
          <p:nvPr/>
        </p:nvSpPr>
        <p:spPr>
          <a:xfrm>
            <a:off x="394632" y="1307512"/>
            <a:ext cx="8368363"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Based on the mean. A significant result indicates heterogeneity of variances across groups.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Google Shape;213;p13">
            <a:extLst>
              <a:ext uri="{FF2B5EF4-FFF2-40B4-BE49-F238E27FC236}">
                <a16:creationId xmlns:a16="http://schemas.microsoft.com/office/drawing/2014/main" id="{5314196D-F839-654D-9DC1-95EFA3AEB386}"/>
              </a:ext>
            </a:extLst>
          </p:cNvPr>
          <p:cNvSpPr txBox="1">
            <a:spLocks/>
          </p:cNvSpPr>
          <p:nvPr/>
        </p:nvSpPr>
        <p:spPr>
          <a:xfrm>
            <a:off x="394631" y="1709698"/>
            <a:ext cx="8368363"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8: General Linear Model: Tests of Between-Subjects Effects for Baseline PTSD Score by Socio-Demographic Characteristics </a:t>
            </a:r>
          </a:p>
        </p:txBody>
      </p:sp>
      <p:graphicFrame>
        <p:nvGraphicFramePr>
          <p:cNvPr id="5" name="Table 4">
            <a:extLst>
              <a:ext uri="{FF2B5EF4-FFF2-40B4-BE49-F238E27FC236}">
                <a16:creationId xmlns:a16="http://schemas.microsoft.com/office/drawing/2014/main" id="{606BD920-FF55-374B-9F91-38181B730891}"/>
              </a:ext>
            </a:extLst>
          </p:cNvPr>
          <p:cNvGraphicFramePr>
            <a:graphicFrameLocks noGrp="1"/>
          </p:cNvGraphicFramePr>
          <p:nvPr>
            <p:extLst>
              <p:ext uri="{D42A27DB-BD31-4B8C-83A1-F6EECF244321}">
                <p14:modId xmlns:p14="http://schemas.microsoft.com/office/powerpoint/2010/main" val="4199770003"/>
              </p:ext>
            </p:extLst>
          </p:nvPr>
        </p:nvGraphicFramePr>
        <p:xfrm>
          <a:off x="394633" y="787098"/>
          <a:ext cx="8368363" cy="426720"/>
        </p:xfrm>
        <a:graphic>
          <a:graphicData uri="http://schemas.openxmlformats.org/drawingml/2006/table">
            <a:tbl>
              <a:tblPr firstRow="1" firstCol="1" bandRow="1"/>
              <a:tblGrid>
                <a:gridCol w="3164914">
                  <a:extLst>
                    <a:ext uri="{9D8B030D-6E8A-4147-A177-3AD203B41FA5}">
                      <a16:colId xmlns:a16="http://schemas.microsoft.com/office/drawing/2014/main" val="2841420454"/>
                    </a:ext>
                  </a:extLst>
                </a:gridCol>
                <a:gridCol w="2604235">
                  <a:extLst>
                    <a:ext uri="{9D8B030D-6E8A-4147-A177-3AD203B41FA5}">
                      <a16:colId xmlns:a16="http://schemas.microsoft.com/office/drawing/2014/main" val="2677978069"/>
                    </a:ext>
                  </a:extLst>
                </a:gridCol>
                <a:gridCol w="808384">
                  <a:extLst>
                    <a:ext uri="{9D8B030D-6E8A-4147-A177-3AD203B41FA5}">
                      <a16:colId xmlns:a16="http://schemas.microsoft.com/office/drawing/2014/main" val="1505980205"/>
                    </a:ext>
                  </a:extLst>
                </a:gridCol>
                <a:gridCol w="808384">
                  <a:extLst>
                    <a:ext uri="{9D8B030D-6E8A-4147-A177-3AD203B41FA5}">
                      <a16:colId xmlns:a16="http://schemas.microsoft.com/office/drawing/2014/main" val="1331649307"/>
                    </a:ext>
                  </a:extLst>
                </a:gridCol>
                <a:gridCol w="982446">
                  <a:extLst>
                    <a:ext uri="{9D8B030D-6E8A-4147-A177-3AD203B41FA5}">
                      <a16:colId xmlns:a16="http://schemas.microsoft.com/office/drawing/2014/main" val="4050413159"/>
                    </a:ext>
                  </a:extLst>
                </a:gridCol>
              </a:tblGrid>
              <a:tr h="204407">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Dependent Variable</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Levene Statistic</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df₁</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df₂</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i="1">
                          <a:effectLst/>
                          <a:latin typeface="Times New Roman" panose="02020603050405020304" pitchFamily="18" charset="0"/>
                          <a:ea typeface="Calibri" panose="020F0502020204030204" pitchFamily="34" charset="0"/>
                          <a:cs typeface="Times New Roman" panose="02020603050405020304" pitchFamily="18" charset="0"/>
                        </a:rPr>
                        <a:t>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0501590"/>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PTSD-Baseline</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2.60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37</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.001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87317642"/>
                  </a:ext>
                </a:extLst>
              </a:tr>
            </a:tbl>
          </a:graphicData>
        </a:graphic>
      </p:graphicFrame>
      <p:graphicFrame>
        <p:nvGraphicFramePr>
          <p:cNvPr id="11" name="Table 10">
            <a:extLst>
              <a:ext uri="{FF2B5EF4-FFF2-40B4-BE49-F238E27FC236}">
                <a16:creationId xmlns:a16="http://schemas.microsoft.com/office/drawing/2014/main" id="{D63D90CB-7C51-C644-8B66-0993E1B91BBD}"/>
              </a:ext>
            </a:extLst>
          </p:cNvPr>
          <p:cNvGraphicFramePr>
            <a:graphicFrameLocks noGrp="1"/>
          </p:cNvGraphicFramePr>
          <p:nvPr>
            <p:extLst>
              <p:ext uri="{D42A27DB-BD31-4B8C-83A1-F6EECF244321}">
                <p14:modId xmlns:p14="http://schemas.microsoft.com/office/powerpoint/2010/main" val="952412864"/>
              </p:ext>
            </p:extLst>
          </p:nvPr>
        </p:nvGraphicFramePr>
        <p:xfrm>
          <a:off x="394631" y="2451771"/>
          <a:ext cx="8368364" cy="1706880"/>
        </p:xfrm>
        <a:graphic>
          <a:graphicData uri="http://schemas.openxmlformats.org/drawingml/2006/table">
            <a:tbl>
              <a:tblPr firstRow="1" firstCol="1" bandRow="1"/>
              <a:tblGrid>
                <a:gridCol w="2947337">
                  <a:extLst>
                    <a:ext uri="{9D8B030D-6E8A-4147-A177-3AD203B41FA5}">
                      <a16:colId xmlns:a16="http://schemas.microsoft.com/office/drawing/2014/main" val="1444491035"/>
                    </a:ext>
                  </a:extLst>
                </a:gridCol>
                <a:gridCol w="1337264">
                  <a:extLst>
                    <a:ext uri="{9D8B030D-6E8A-4147-A177-3AD203B41FA5}">
                      <a16:colId xmlns:a16="http://schemas.microsoft.com/office/drawing/2014/main" val="3691258780"/>
                    </a:ext>
                  </a:extLst>
                </a:gridCol>
                <a:gridCol w="1245213">
                  <a:extLst>
                    <a:ext uri="{9D8B030D-6E8A-4147-A177-3AD203B41FA5}">
                      <a16:colId xmlns:a16="http://schemas.microsoft.com/office/drawing/2014/main" val="3903163959"/>
                    </a:ext>
                  </a:extLst>
                </a:gridCol>
                <a:gridCol w="1057762">
                  <a:extLst>
                    <a:ext uri="{9D8B030D-6E8A-4147-A177-3AD203B41FA5}">
                      <a16:colId xmlns:a16="http://schemas.microsoft.com/office/drawing/2014/main" val="1004362022"/>
                    </a:ext>
                  </a:extLst>
                </a:gridCol>
                <a:gridCol w="1780788">
                  <a:extLst>
                    <a:ext uri="{9D8B030D-6E8A-4147-A177-3AD203B41FA5}">
                      <a16:colId xmlns:a16="http://schemas.microsoft.com/office/drawing/2014/main" val="2603487366"/>
                    </a:ext>
                  </a:extLst>
                </a:gridCol>
              </a:tblGrid>
              <a:tr h="201232">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Source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i="1">
                          <a:effectLst/>
                          <a:latin typeface="Times New Roman" panose="02020603050405020304" pitchFamily="18" charset="0"/>
                          <a:ea typeface="Calibri" panose="020F0502020204030204" pitchFamily="34" charset="0"/>
                          <a:cs typeface="Times New Roman" panose="02020603050405020304" pitchFamily="18" charset="0"/>
                        </a:rPr>
                        <a:t>p</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Partial η²</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6572702"/>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Age group</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1, 58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0.003</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.960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81589384"/>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Marital status</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1, 58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.971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.000</a:t>
                      </a:r>
                    </a:p>
                  </a:txBody>
                  <a:tcPr marL="68580" marR="68580" marT="0" marB="0">
                    <a:lnL>
                      <a:noFill/>
                    </a:lnL>
                    <a:lnR>
                      <a:noFill/>
                    </a:lnR>
                    <a:lnT>
                      <a:noFill/>
                    </a:lnT>
                    <a:lnB>
                      <a:noFill/>
                    </a:lnB>
                  </a:tcPr>
                </a:tc>
                <a:extLst>
                  <a:ext uri="{0D108BD9-81ED-4DB2-BD59-A6C34878D82A}">
                    <a16:rowId xmlns:a16="http://schemas.microsoft.com/office/drawing/2014/main" val="159929770"/>
                  </a:ext>
                </a:extLst>
              </a:tr>
              <a:tr h="201168">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Role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2, 58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0.410</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.666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.014</a:t>
                      </a:r>
                    </a:p>
                  </a:txBody>
                  <a:tcPr marL="68580" marR="68580" marT="0" marB="0">
                    <a:lnL>
                      <a:noFill/>
                    </a:lnL>
                    <a:lnR>
                      <a:noFill/>
                    </a:lnR>
                    <a:lnT>
                      <a:noFill/>
                    </a:lnT>
                    <a:lnB>
                      <a:noFill/>
                    </a:lnB>
                  </a:tcPr>
                </a:tc>
                <a:extLst>
                  <a:ext uri="{0D108BD9-81ED-4DB2-BD59-A6C34878D82A}">
                    <a16:rowId xmlns:a16="http://schemas.microsoft.com/office/drawing/2014/main" val="4051115021"/>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ICU experience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1, 58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0.201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.656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.003</a:t>
                      </a:r>
                    </a:p>
                  </a:txBody>
                  <a:tcPr marL="68580" marR="68580" marT="0" marB="0">
                    <a:lnL>
                      <a:noFill/>
                    </a:lnL>
                    <a:lnR>
                      <a:noFill/>
                    </a:lnR>
                    <a:lnT>
                      <a:noFill/>
                    </a:lnT>
                    <a:lnB>
                      <a:noFill/>
                    </a:lnB>
                  </a:tcPr>
                </a:tc>
                <a:extLst>
                  <a:ext uri="{0D108BD9-81ED-4DB2-BD59-A6C34878D82A}">
                    <a16:rowId xmlns:a16="http://schemas.microsoft.com/office/drawing/2014/main" val="774253084"/>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Working hours</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2, 58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0.259</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.773</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.009</a:t>
                      </a:r>
                    </a:p>
                  </a:txBody>
                  <a:tcPr marL="68580" marR="68580" marT="0" marB="0">
                    <a:lnL>
                      <a:noFill/>
                    </a:lnL>
                    <a:lnR>
                      <a:noFill/>
                    </a:lnR>
                    <a:lnT>
                      <a:noFill/>
                    </a:lnT>
                    <a:lnB>
                      <a:noFill/>
                    </a:lnB>
                  </a:tcPr>
                </a:tc>
                <a:extLst>
                  <a:ext uri="{0D108BD9-81ED-4DB2-BD59-A6C34878D82A}">
                    <a16:rowId xmlns:a16="http://schemas.microsoft.com/office/drawing/2014/main" val="2783716422"/>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Gender</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1, 58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0.123</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.727</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.002</a:t>
                      </a:r>
                    </a:p>
                  </a:txBody>
                  <a:tcPr marL="68580" marR="68580" marT="0" marB="0">
                    <a:lnL>
                      <a:noFill/>
                    </a:lnL>
                    <a:lnR>
                      <a:noFill/>
                    </a:lnR>
                    <a:lnT>
                      <a:noFill/>
                    </a:lnT>
                    <a:lnB>
                      <a:noFill/>
                    </a:lnB>
                  </a:tcPr>
                </a:tc>
                <a:extLst>
                  <a:ext uri="{0D108BD9-81ED-4DB2-BD59-A6C34878D82A}">
                    <a16:rowId xmlns:a16="http://schemas.microsoft.com/office/drawing/2014/main" val="938158536"/>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Corrected Model</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75, 58</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0.773</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.854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.500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1252344"/>
                  </a:ext>
                </a:extLst>
              </a:tr>
            </a:tbl>
          </a:graphicData>
        </a:graphic>
      </p:graphicFrame>
    </p:spTree>
    <p:extLst>
      <p:ext uri="{BB962C8B-B14F-4D97-AF65-F5344CB8AC3E}">
        <p14:creationId xmlns:p14="http://schemas.microsoft.com/office/powerpoint/2010/main" val="22209154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Implications of the Relationship between Socio-Demographics and PTSD Symptom Severity </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 The lack of statistically significant associations between socio-demographic characteristics and baseline PTSD severity in this study suggests that symptom levels were relatively uniform across demographic subgroups.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Practically, this suggests that interventions, prevention programs, and resource allocation targeting PTSD in similar settings may not need to be stratified primarily by these socio-demographic factors.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From a methodological standpoint, the absence of significant effects reduces concerns about confounding from these variables in subsequent analyses, supporting their optional rather than essential inclusion as covariates in future models. </a:t>
            </a:r>
          </a:p>
        </p:txBody>
      </p:sp>
    </p:spTree>
    <p:extLst>
      <p:ext uri="{BB962C8B-B14F-4D97-AF65-F5344CB8AC3E}">
        <p14:creationId xmlns:p14="http://schemas.microsoft.com/office/powerpoint/2010/main" val="31422954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 THREE  </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2400" dirty="0" err="1"/>
              <a:t>Comorbities</a:t>
            </a:r>
            <a:r>
              <a:rPr lang="en" sz="2400" dirty="0"/>
              <a:t> Associated with PTSD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23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4</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6262924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800" b="1" dirty="0"/>
              <a:t>Frequency analysis </a:t>
            </a:r>
          </a:p>
          <a:p>
            <a:pPr lvl="0">
              <a:spcBef>
                <a:spcPts val="0"/>
              </a:spcBef>
            </a:pPr>
            <a:r>
              <a:rPr lang="en-US" sz="1800" dirty="0"/>
              <a:t> Converted continuous scale scores into binary categorical variables representing presence vs absence of each comorbidity, following the scoring thresholds: </a:t>
            </a:r>
          </a:p>
          <a:p>
            <a:pPr lvl="1">
              <a:spcBef>
                <a:spcPts val="0"/>
              </a:spcBef>
              <a:buClr>
                <a:schemeClr val="accent4">
                  <a:lumMod val="75000"/>
                </a:schemeClr>
              </a:buClr>
            </a:pPr>
            <a:r>
              <a:rPr lang="en-US" sz="1800" dirty="0"/>
              <a:t>Anxiety: From HADS-A, total score ≥ 8 = potential anxiety.</a:t>
            </a:r>
          </a:p>
          <a:p>
            <a:pPr lvl="1">
              <a:spcBef>
                <a:spcPts val="0"/>
              </a:spcBef>
              <a:buClr>
                <a:schemeClr val="accent4">
                  <a:lumMod val="75000"/>
                </a:schemeClr>
              </a:buClr>
            </a:pPr>
            <a:r>
              <a:rPr lang="en-US" sz="1800" dirty="0"/>
              <a:t>Depression: From HADS-D, total score ≥ 8 = potential depression. </a:t>
            </a:r>
          </a:p>
          <a:p>
            <a:pPr lvl="1">
              <a:spcBef>
                <a:spcPts val="0"/>
              </a:spcBef>
              <a:buClr>
                <a:schemeClr val="accent4">
                  <a:lumMod val="75000"/>
                </a:schemeClr>
              </a:buClr>
            </a:pPr>
            <a:r>
              <a:rPr lang="en-US" sz="1800" dirty="0"/>
              <a:t>Burnout: Defined as high Emotional Exhaustion (≥ 27) AND either high Depersonalization (≥ 13) or low Personal Accomplishment (≤ 31). </a:t>
            </a:r>
          </a:p>
          <a:p>
            <a:pPr lvl="0">
              <a:spcBef>
                <a:spcPts val="0"/>
              </a:spcBef>
            </a:pPr>
            <a:r>
              <a:rPr lang="en-US" sz="1800" dirty="0"/>
              <a:t>Computed frequencies and percentages to provide an overview of the prevalence of anxiety, depression, and burnout in the sample. </a:t>
            </a:r>
          </a:p>
          <a:p>
            <a:pPr lvl="0">
              <a:spcBef>
                <a:spcPts val="0"/>
              </a:spcBef>
            </a:pPr>
            <a:r>
              <a:rPr lang="en-US" sz="1800" dirty="0"/>
              <a:t>This approach was chosen because: </a:t>
            </a:r>
          </a:p>
          <a:p>
            <a:pPr lvl="1">
              <a:spcBef>
                <a:spcPts val="0"/>
              </a:spcBef>
              <a:buClr>
                <a:schemeClr val="accent4">
                  <a:lumMod val="75000"/>
                </a:schemeClr>
              </a:buClr>
            </a:pPr>
            <a:r>
              <a:rPr lang="en-US" sz="1800" dirty="0"/>
              <a:t>Binary classification aligns with clinical screening thresholds. </a:t>
            </a:r>
          </a:p>
          <a:p>
            <a:pPr lvl="1">
              <a:spcBef>
                <a:spcPts val="0"/>
              </a:spcBef>
              <a:buClr>
                <a:schemeClr val="accent4">
                  <a:lumMod val="75000"/>
                </a:schemeClr>
              </a:buClr>
            </a:pPr>
            <a:r>
              <a:rPr lang="en-US" sz="1800" dirty="0"/>
              <a:t>The variables are binary (nominal), making frequencies the clearest representation of prevalence.</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24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695927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9: Prevalence of Depression, Anxiety, and Burnout Among ICU Healthcare Professionals at Baseline (N = 134)</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25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64355" y="2992690"/>
            <a:ext cx="8596765" cy="523220"/>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Depression and anxiety classified using HADS ≥ 8 threshold; burnout classified according to MBI subscale criteria. Percentages are valid percentages.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459630F-00F5-D44A-A4FA-A8504A399403}"/>
              </a:ext>
            </a:extLst>
          </p:cNvPr>
          <p:cNvGraphicFramePr>
            <a:graphicFrameLocks noGrp="1"/>
          </p:cNvGraphicFramePr>
          <p:nvPr>
            <p:extLst>
              <p:ext uri="{D42A27DB-BD31-4B8C-83A1-F6EECF244321}">
                <p14:modId xmlns:p14="http://schemas.microsoft.com/office/powerpoint/2010/main" val="1938270170"/>
              </p:ext>
            </p:extLst>
          </p:nvPr>
        </p:nvGraphicFramePr>
        <p:xfrm>
          <a:off x="364354" y="745356"/>
          <a:ext cx="8596765" cy="2254000"/>
        </p:xfrm>
        <a:graphic>
          <a:graphicData uri="http://schemas.openxmlformats.org/drawingml/2006/table">
            <a:tbl>
              <a:tblPr firstRow="1" firstCol="1" bandRow="1"/>
              <a:tblGrid>
                <a:gridCol w="3297720">
                  <a:extLst>
                    <a:ext uri="{9D8B030D-6E8A-4147-A177-3AD203B41FA5}">
                      <a16:colId xmlns:a16="http://schemas.microsoft.com/office/drawing/2014/main" val="2578058597"/>
                    </a:ext>
                  </a:extLst>
                </a:gridCol>
                <a:gridCol w="2711419">
                  <a:extLst>
                    <a:ext uri="{9D8B030D-6E8A-4147-A177-3AD203B41FA5}">
                      <a16:colId xmlns:a16="http://schemas.microsoft.com/office/drawing/2014/main" val="3935185675"/>
                    </a:ext>
                  </a:extLst>
                </a:gridCol>
                <a:gridCol w="1234496">
                  <a:extLst>
                    <a:ext uri="{9D8B030D-6E8A-4147-A177-3AD203B41FA5}">
                      <a16:colId xmlns:a16="http://schemas.microsoft.com/office/drawing/2014/main" val="2822932969"/>
                    </a:ext>
                  </a:extLst>
                </a:gridCol>
                <a:gridCol w="1353130">
                  <a:extLst>
                    <a:ext uri="{9D8B030D-6E8A-4147-A177-3AD203B41FA5}">
                      <a16:colId xmlns:a16="http://schemas.microsoft.com/office/drawing/2014/main" val="1706602836"/>
                    </a:ext>
                  </a:extLst>
                </a:gridCol>
              </a:tblGrid>
              <a:tr h="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Variable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Category</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0951300"/>
                  </a:ext>
                </a:extLst>
              </a:tr>
              <a:tr h="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Depression</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Absent</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23</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17.2</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46607641"/>
                  </a:ext>
                </a:extLst>
              </a:tr>
              <a:tr h="0">
                <a:tc>
                  <a:txBody>
                    <a:bodyPr/>
                    <a:lstStyle/>
                    <a:p>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Present</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111</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82.8</a:t>
                      </a:r>
                    </a:p>
                  </a:txBody>
                  <a:tcPr marL="68580" marR="68580" marT="0" marB="0">
                    <a:lnL>
                      <a:noFill/>
                    </a:lnL>
                    <a:lnR>
                      <a:noFill/>
                    </a:lnR>
                    <a:lnT>
                      <a:noFill/>
                    </a:lnT>
                    <a:lnB>
                      <a:noFill/>
                    </a:lnB>
                  </a:tcPr>
                </a:tc>
                <a:extLst>
                  <a:ext uri="{0D108BD9-81ED-4DB2-BD59-A6C34878D82A}">
                    <a16:rowId xmlns:a16="http://schemas.microsoft.com/office/drawing/2014/main" val="1539977014"/>
                  </a:ext>
                </a:extLst>
              </a:tr>
              <a:tr h="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Anxiety</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Absent</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14.9</a:t>
                      </a:r>
                    </a:p>
                  </a:txBody>
                  <a:tcPr marL="68580" marR="68580" marT="0" marB="0">
                    <a:lnL>
                      <a:noFill/>
                    </a:lnL>
                    <a:lnR>
                      <a:noFill/>
                    </a:lnR>
                    <a:lnT>
                      <a:noFill/>
                    </a:lnT>
                    <a:lnB>
                      <a:noFill/>
                    </a:lnB>
                  </a:tcPr>
                </a:tc>
                <a:extLst>
                  <a:ext uri="{0D108BD9-81ED-4DB2-BD59-A6C34878D82A}">
                    <a16:rowId xmlns:a16="http://schemas.microsoft.com/office/drawing/2014/main" val="1642894173"/>
                  </a:ext>
                </a:extLst>
              </a:tr>
              <a:tr h="0">
                <a:tc>
                  <a:txBody>
                    <a:bodyPr/>
                    <a:lstStyle/>
                    <a:p>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Present</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114</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85.1</a:t>
                      </a:r>
                    </a:p>
                  </a:txBody>
                  <a:tcPr marL="68580" marR="68580" marT="0" marB="0">
                    <a:lnL>
                      <a:noFill/>
                    </a:lnL>
                    <a:lnR>
                      <a:noFill/>
                    </a:lnR>
                    <a:lnT>
                      <a:noFill/>
                    </a:lnT>
                    <a:lnB>
                      <a:noFill/>
                    </a:lnB>
                  </a:tcPr>
                </a:tc>
                <a:extLst>
                  <a:ext uri="{0D108BD9-81ED-4DB2-BD59-A6C34878D82A}">
                    <a16:rowId xmlns:a16="http://schemas.microsoft.com/office/drawing/2014/main" val="3922507198"/>
                  </a:ext>
                </a:extLst>
              </a:tr>
              <a:tr h="0">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Burnout status</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At risk</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108</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80.6</a:t>
                      </a:r>
                    </a:p>
                  </a:txBody>
                  <a:tcPr marL="68580" marR="68580" marT="0" marB="0">
                    <a:lnL>
                      <a:noFill/>
                    </a:lnL>
                    <a:lnR>
                      <a:noFill/>
                    </a:lnR>
                    <a:lnT>
                      <a:noFill/>
                    </a:lnT>
                    <a:lnB>
                      <a:noFill/>
                    </a:lnB>
                  </a:tcPr>
                </a:tc>
                <a:extLst>
                  <a:ext uri="{0D108BD9-81ED-4DB2-BD59-A6C34878D82A}">
                    <a16:rowId xmlns:a16="http://schemas.microsoft.com/office/drawing/2014/main" val="1776558930"/>
                  </a:ext>
                </a:extLst>
              </a:tr>
              <a:tr h="0">
                <a:tc>
                  <a:txBody>
                    <a:bodyPr/>
                    <a:lstStyle/>
                    <a:p>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Burnout</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a:t>
                      </a:r>
                    </a:p>
                  </a:txBody>
                  <a:tcPr marL="68580" marR="68580" marT="0" marB="0">
                    <a:lnL>
                      <a:noFill/>
                    </a:lnL>
                    <a:lnR>
                      <a:noFill/>
                    </a:lnR>
                    <a:lnT>
                      <a:noFill/>
                    </a:lnT>
                    <a:lnB>
                      <a:noFill/>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6.0</a:t>
                      </a:r>
                    </a:p>
                  </a:txBody>
                  <a:tcPr marL="68580" marR="68580" marT="0" marB="0">
                    <a:lnL>
                      <a:noFill/>
                    </a:lnL>
                    <a:lnR>
                      <a:noFill/>
                    </a:lnR>
                    <a:lnT>
                      <a:noFill/>
                    </a:lnT>
                    <a:lnB>
                      <a:noFill/>
                    </a:lnB>
                  </a:tcPr>
                </a:tc>
                <a:extLst>
                  <a:ext uri="{0D108BD9-81ED-4DB2-BD59-A6C34878D82A}">
                    <a16:rowId xmlns:a16="http://schemas.microsoft.com/office/drawing/2014/main" val="843496291"/>
                  </a:ext>
                </a:extLst>
              </a:tr>
              <a:tr h="0">
                <a:tc>
                  <a:txBody>
                    <a:bodyPr/>
                    <a:lstStyle/>
                    <a:p>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No burnout</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18</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13.4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3135718"/>
                  </a:ext>
                </a:extLst>
              </a:tr>
            </a:tbl>
          </a:graphicData>
        </a:graphic>
      </p:graphicFrame>
    </p:spTree>
    <p:extLst>
      <p:ext uri="{BB962C8B-B14F-4D97-AF65-F5344CB8AC3E}">
        <p14:creationId xmlns:p14="http://schemas.microsoft.com/office/powerpoint/2010/main" val="12137277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Chi-square test of independence </a:t>
            </a:r>
          </a:p>
          <a:p>
            <a:pPr lvl="0">
              <a:spcBef>
                <a:spcPts val="0"/>
              </a:spcBef>
            </a:pPr>
            <a:r>
              <a:rPr lang="en-US" sz="1900" dirty="0"/>
              <a:t>Bivariate associations were tested between PTSD status and each comorbidity to determine whether they co-occurred with one another. </a:t>
            </a:r>
          </a:p>
          <a:p>
            <a:pPr lvl="1">
              <a:spcBef>
                <a:spcPts val="0"/>
              </a:spcBef>
              <a:buClr>
                <a:schemeClr val="accent4">
                  <a:lumMod val="75000"/>
                </a:schemeClr>
              </a:buClr>
            </a:pPr>
            <a:r>
              <a:rPr lang="en-US" sz="1900" dirty="0"/>
              <a:t>Effect sizes reported  through Cramer’s V and Phi coefficient for 2×2 tables. </a:t>
            </a:r>
          </a:p>
          <a:p>
            <a:pPr lvl="1">
              <a:spcBef>
                <a:spcPts val="0"/>
              </a:spcBef>
              <a:buClr>
                <a:schemeClr val="accent4">
                  <a:lumMod val="75000"/>
                </a:schemeClr>
              </a:buClr>
            </a:pPr>
            <a:r>
              <a:rPr lang="en-US" sz="1900" dirty="0"/>
              <a:t>When &gt;20% of cells had an expected count &lt; 5, Fisher’s Exact Test was used. </a:t>
            </a:r>
          </a:p>
          <a:p>
            <a:pPr lvl="0">
              <a:spcBef>
                <a:spcPts val="0"/>
              </a:spcBef>
            </a:pPr>
            <a:r>
              <a:rPr lang="en-US" sz="1900" dirty="0"/>
              <a:t>This approach was chosen because: </a:t>
            </a:r>
          </a:p>
          <a:p>
            <a:pPr lvl="1">
              <a:spcBef>
                <a:spcPts val="0"/>
              </a:spcBef>
              <a:buClr>
                <a:schemeClr val="accent4">
                  <a:lumMod val="75000"/>
                </a:schemeClr>
              </a:buClr>
            </a:pPr>
            <a:r>
              <a:rPr lang="en-US" sz="1900" dirty="0"/>
              <a:t>Both variables are categorical. </a:t>
            </a:r>
          </a:p>
          <a:p>
            <a:pPr lvl="1">
              <a:spcBef>
                <a:spcPts val="0"/>
              </a:spcBef>
              <a:buClr>
                <a:schemeClr val="accent4">
                  <a:lumMod val="75000"/>
                </a:schemeClr>
              </a:buClr>
            </a:pPr>
            <a:r>
              <a:rPr lang="en-US" sz="1900" dirty="0"/>
              <a:t>Chi-square is the standard non-parametric test for assessing association between nominal variables.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26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297674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10: Associations Between PTSD Status and Depression, Anxiety, and Burnout at Baseline (N = 134)</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27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364354" y="1799801"/>
            <a:ext cx="8596765" cy="523220"/>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Depression and anxiety classified using HADS ≥ 8 threshold; burnout classified according to MBI subscale criteria. Effect sizes interpreted as per Cohen’s guidelines: V = 0.06–0.11 (small).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99433DE-BD9E-9146-B635-0FCB31771930}"/>
              </a:ext>
            </a:extLst>
          </p:cNvPr>
          <p:cNvGraphicFramePr>
            <a:graphicFrameLocks noGrp="1"/>
          </p:cNvGraphicFramePr>
          <p:nvPr>
            <p:extLst>
              <p:ext uri="{D42A27DB-BD31-4B8C-83A1-F6EECF244321}">
                <p14:modId xmlns:p14="http://schemas.microsoft.com/office/powerpoint/2010/main" val="1508375255"/>
              </p:ext>
            </p:extLst>
          </p:nvPr>
        </p:nvGraphicFramePr>
        <p:xfrm>
          <a:off x="364355" y="826994"/>
          <a:ext cx="8596765" cy="853440"/>
        </p:xfrm>
        <a:graphic>
          <a:graphicData uri="http://schemas.openxmlformats.org/drawingml/2006/table">
            <a:tbl>
              <a:tblPr firstRow="1" firstCol="1" bandRow="1"/>
              <a:tblGrid>
                <a:gridCol w="2634049">
                  <a:extLst>
                    <a:ext uri="{9D8B030D-6E8A-4147-A177-3AD203B41FA5}">
                      <a16:colId xmlns:a16="http://schemas.microsoft.com/office/drawing/2014/main" val="2497984957"/>
                    </a:ext>
                  </a:extLst>
                </a:gridCol>
                <a:gridCol w="919854">
                  <a:extLst>
                    <a:ext uri="{9D8B030D-6E8A-4147-A177-3AD203B41FA5}">
                      <a16:colId xmlns:a16="http://schemas.microsoft.com/office/drawing/2014/main" val="533543733"/>
                    </a:ext>
                  </a:extLst>
                </a:gridCol>
                <a:gridCol w="622406">
                  <a:extLst>
                    <a:ext uri="{9D8B030D-6E8A-4147-A177-3AD203B41FA5}">
                      <a16:colId xmlns:a16="http://schemas.microsoft.com/office/drawing/2014/main" val="452530033"/>
                    </a:ext>
                  </a:extLst>
                </a:gridCol>
                <a:gridCol w="919854">
                  <a:extLst>
                    <a:ext uri="{9D8B030D-6E8A-4147-A177-3AD203B41FA5}">
                      <a16:colId xmlns:a16="http://schemas.microsoft.com/office/drawing/2014/main" val="4236801061"/>
                    </a:ext>
                  </a:extLst>
                </a:gridCol>
                <a:gridCol w="3500602">
                  <a:extLst>
                    <a:ext uri="{9D8B030D-6E8A-4147-A177-3AD203B41FA5}">
                      <a16:colId xmlns:a16="http://schemas.microsoft.com/office/drawing/2014/main" val="955497235"/>
                    </a:ext>
                  </a:extLst>
                </a:gridCol>
              </a:tblGrid>
              <a:tr h="15996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Variable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χ²</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Effect size (Cramer's V)</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3504766"/>
                  </a:ext>
                </a:extLst>
              </a:tr>
              <a:tr h="15996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Depression status</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1.53</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.216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0.11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6053172"/>
                  </a:ext>
                </a:extLst>
              </a:tr>
              <a:tr h="15996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Anxiety status</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.298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0.09</a:t>
                      </a:r>
                    </a:p>
                  </a:txBody>
                  <a:tcPr marL="68580" marR="68580" marT="0" marB="0">
                    <a:lnL>
                      <a:noFill/>
                    </a:lnL>
                    <a:lnR>
                      <a:noFill/>
                    </a:lnR>
                    <a:lnT>
                      <a:noFill/>
                    </a:lnT>
                    <a:lnB>
                      <a:noFill/>
                    </a:lnB>
                  </a:tcPr>
                </a:tc>
                <a:extLst>
                  <a:ext uri="{0D108BD9-81ED-4DB2-BD59-A6C34878D82A}">
                    <a16:rowId xmlns:a16="http://schemas.microsoft.com/office/drawing/2014/main" val="2074590809"/>
                  </a:ext>
                </a:extLst>
              </a:tr>
              <a:tr h="159964">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Burnout status</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0.47</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.791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0.06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9533593"/>
                  </a:ext>
                </a:extLst>
              </a:tr>
            </a:tbl>
          </a:graphicData>
        </a:graphic>
      </p:graphicFrame>
    </p:spTree>
    <p:extLst>
      <p:ext uri="{BB962C8B-B14F-4D97-AF65-F5344CB8AC3E}">
        <p14:creationId xmlns:p14="http://schemas.microsoft.com/office/powerpoint/2010/main" val="11240107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Implications of the Comorbidities Results </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6200" lvl="0">
              <a:buClr>
                <a:srgbClr val="C7D3E6"/>
              </a:buClr>
              <a:buSzPts val="2400"/>
            </a:pPr>
            <a:r>
              <a:rPr lang="en-US" sz="1900" b="1" dirty="0">
                <a:solidFill>
                  <a:srgbClr val="263248"/>
                </a:solidFill>
                <a:latin typeface="Roboto Condensed Light"/>
                <a:ea typeface="Roboto Condensed Light"/>
                <a:sym typeface="Roboto Condensed Light"/>
              </a:rPr>
              <a:t>Descriptively:</a:t>
            </a:r>
            <a:r>
              <a:rPr lang="en-US" sz="1900" dirty="0">
                <a:solidFill>
                  <a:srgbClr val="263248"/>
                </a:solidFill>
                <a:latin typeface="Roboto Condensed Light"/>
                <a:ea typeface="Roboto Condensed Light"/>
                <a:sym typeface="Roboto Condensed Light"/>
              </a:rPr>
              <a:t> </a:t>
            </a:r>
            <a:r>
              <a:rPr lang="en-US" sz="1900" b="1" dirty="0">
                <a:solidFill>
                  <a:srgbClr val="263248"/>
                </a:solidFill>
                <a:latin typeface="Roboto Condensed Light"/>
                <a:ea typeface="Roboto Condensed Light"/>
                <a:sym typeface="Roboto Condensed Light"/>
              </a:rPr>
              <a:t>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high prevalence of depression, anxiety, and burnout underscores the urgent need for targeted mental health support and preventive interventions in ICU settings.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 The high baseline prevalence rates provide a reference point for evaluating the impact of subsequent interventions and for exploring comorbidity patterns with PTSD.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76200" lvl="0">
              <a:buClr>
                <a:srgbClr val="C7D3E6"/>
              </a:buClr>
              <a:buSzPts val="2400"/>
            </a:pPr>
            <a:r>
              <a:rPr lang="en-US" sz="1900" b="1" dirty="0">
                <a:solidFill>
                  <a:srgbClr val="263248"/>
                </a:solidFill>
                <a:latin typeface="Roboto Condensed Light"/>
                <a:ea typeface="Roboto Condensed Light"/>
                <a:sym typeface="Roboto Condensed Light"/>
              </a:rPr>
              <a:t>Based on statistical significance: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Even without statistically significant differences, the high co-occurrence rates underscore the importance of routine screening for multiple mental health concerns in ICU settings.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Given the overlap in symptomatology, workplace interventions should address PTSD, depression, anxiety, and burnout concurrently rather than in isolation.</a:t>
            </a:r>
          </a:p>
        </p:txBody>
      </p:sp>
    </p:spTree>
    <p:extLst>
      <p:ext uri="{BB962C8B-B14F-4D97-AF65-F5344CB8AC3E}">
        <p14:creationId xmlns:p14="http://schemas.microsoft.com/office/powerpoint/2010/main" val="29303880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 FOUR   </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sz="2400" dirty="0"/>
              <a:t>EMDR Therapy Effectiveness in Treating PTSD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28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5</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38769135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Descriptive analysis </a:t>
            </a:r>
          </a:p>
          <a:p>
            <a:pPr lvl="0">
              <a:spcBef>
                <a:spcPts val="0"/>
              </a:spcBef>
            </a:pPr>
            <a:r>
              <a:rPr lang="en-US" sz="1900" dirty="0"/>
              <a:t>Computed means, standard deviations (SDs), and 95% confidence intervals (CIs) for the means of participant PTSD scores at baseline, midline, and </a:t>
            </a:r>
            <a:r>
              <a:rPr lang="en-US" sz="1900" dirty="0" err="1"/>
              <a:t>endline</a:t>
            </a:r>
            <a:r>
              <a:rPr lang="en-US" sz="1900" dirty="0"/>
              <a:t> for treatment and control groups to: </a:t>
            </a:r>
          </a:p>
          <a:p>
            <a:pPr lvl="1">
              <a:spcBef>
                <a:spcPts val="0"/>
              </a:spcBef>
            </a:pPr>
            <a:r>
              <a:rPr lang="en-US" sz="1900" dirty="0"/>
              <a:t>Give an overview of central tendency and variability. </a:t>
            </a:r>
          </a:p>
          <a:p>
            <a:pPr lvl="1">
              <a:spcBef>
                <a:spcPts val="0"/>
              </a:spcBef>
            </a:pPr>
            <a:r>
              <a:rPr lang="en-US" sz="1900" dirty="0"/>
              <a:t>Show raw score changes before adjusting for baseline differences. </a:t>
            </a:r>
          </a:p>
          <a:p>
            <a:pPr lvl="0">
              <a:spcBef>
                <a:spcPts val="0"/>
              </a:spcBef>
            </a:pPr>
            <a:r>
              <a:rPr lang="en-US" sz="1900" dirty="0"/>
              <a:t>  This approach was chosen because: </a:t>
            </a:r>
          </a:p>
          <a:p>
            <a:pPr lvl="1">
              <a:spcBef>
                <a:spcPts val="0"/>
              </a:spcBef>
            </a:pPr>
            <a:r>
              <a:rPr lang="en-US" sz="1900" dirty="0"/>
              <a:t>Means and SDs are the standard descriptive summary for continuous outcome measures. </a:t>
            </a:r>
          </a:p>
          <a:p>
            <a:pPr lvl="1">
              <a:spcBef>
                <a:spcPts val="0"/>
              </a:spcBef>
            </a:pPr>
            <a:r>
              <a:rPr lang="en-US" sz="1900" dirty="0"/>
              <a:t>It allowed a visual and numerical comparison of score trends over time between groups.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29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526296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lvl="0" algn="r"/>
            <a:r>
              <a:rPr lang="en-US" dirty="0">
                <a:solidFill>
                  <a:schemeClr val="accent5"/>
                </a:solidFill>
                <a:latin typeface="Times New Roman" panose="02020603050405020304" pitchFamily="18" charset="0"/>
                <a:cs typeface="Times New Roman" panose="02020603050405020304" pitchFamily="18" charset="0"/>
              </a:rPr>
              <a:t>Table 11: Means and Standard Deviations of PTSD Scores by Group and Time Point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30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436495" y="2511071"/>
            <a:ext cx="8596765"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PTSD scores were assessed using the PCL-5, with higher scores indicating greater PTSD symptom severity.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589614D-9449-7345-A7E3-A23DB51A271B}"/>
              </a:ext>
            </a:extLst>
          </p:cNvPr>
          <p:cNvGraphicFramePr>
            <a:graphicFrameLocks noGrp="1"/>
          </p:cNvGraphicFramePr>
          <p:nvPr>
            <p:extLst>
              <p:ext uri="{D42A27DB-BD31-4B8C-83A1-F6EECF244321}">
                <p14:modId xmlns:p14="http://schemas.microsoft.com/office/powerpoint/2010/main" val="3945548945"/>
              </p:ext>
            </p:extLst>
          </p:nvPr>
        </p:nvGraphicFramePr>
        <p:xfrm>
          <a:off x="508635" y="834388"/>
          <a:ext cx="8452486" cy="1493520"/>
        </p:xfrm>
        <a:graphic>
          <a:graphicData uri="http://schemas.openxmlformats.org/drawingml/2006/table">
            <a:tbl>
              <a:tblPr firstRow="1" firstCol="1" bandRow="1"/>
              <a:tblGrid>
                <a:gridCol w="1582622">
                  <a:extLst>
                    <a:ext uri="{9D8B030D-6E8A-4147-A177-3AD203B41FA5}">
                      <a16:colId xmlns:a16="http://schemas.microsoft.com/office/drawing/2014/main" val="3993441472"/>
                    </a:ext>
                  </a:extLst>
                </a:gridCol>
                <a:gridCol w="1477789">
                  <a:extLst>
                    <a:ext uri="{9D8B030D-6E8A-4147-A177-3AD203B41FA5}">
                      <a16:colId xmlns:a16="http://schemas.microsoft.com/office/drawing/2014/main" val="3667779077"/>
                    </a:ext>
                  </a:extLst>
                </a:gridCol>
                <a:gridCol w="591793">
                  <a:extLst>
                    <a:ext uri="{9D8B030D-6E8A-4147-A177-3AD203B41FA5}">
                      <a16:colId xmlns:a16="http://schemas.microsoft.com/office/drawing/2014/main" val="473812218"/>
                    </a:ext>
                  </a:extLst>
                </a:gridCol>
                <a:gridCol w="948559">
                  <a:extLst>
                    <a:ext uri="{9D8B030D-6E8A-4147-A177-3AD203B41FA5}">
                      <a16:colId xmlns:a16="http://schemas.microsoft.com/office/drawing/2014/main" val="181363574"/>
                    </a:ext>
                  </a:extLst>
                </a:gridCol>
                <a:gridCol w="806529">
                  <a:extLst>
                    <a:ext uri="{9D8B030D-6E8A-4147-A177-3AD203B41FA5}">
                      <a16:colId xmlns:a16="http://schemas.microsoft.com/office/drawing/2014/main" val="367569831"/>
                    </a:ext>
                  </a:extLst>
                </a:gridCol>
                <a:gridCol w="3045194">
                  <a:extLst>
                    <a:ext uri="{9D8B030D-6E8A-4147-A177-3AD203B41FA5}">
                      <a16:colId xmlns:a16="http://schemas.microsoft.com/office/drawing/2014/main" val="2557349544"/>
                    </a:ext>
                  </a:extLst>
                </a:gridCol>
              </a:tblGrid>
              <a:tr h="201232">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Time Point</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i="1">
                          <a:effectLst/>
                          <a:latin typeface="Times New Roman" panose="02020603050405020304" pitchFamily="18" charset="0"/>
                          <a:ea typeface="Calibri" panose="020F0502020204030204" pitchFamily="34" charset="0"/>
                          <a:cs typeface="Times New Roman" panose="02020603050405020304" pitchFamily="18" charset="0"/>
                        </a:rPr>
                        <a:t>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SD</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(Lower, Upper)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6466756"/>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Baseline</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44.20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3.85</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43.11, 45.28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180366762"/>
                  </a:ext>
                </a:extLst>
              </a:tr>
              <a:tr h="201168">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40.92</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6.14</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39.19, 42.65</a:t>
                      </a:r>
                    </a:p>
                  </a:txBody>
                  <a:tcPr marL="68580" marR="68580" marT="0" marB="0">
                    <a:lnL>
                      <a:noFill/>
                    </a:lnL>
                    <a:lnR>
                      <a:noFill/>
                    </a:lnR>
                    <a:lnT>
                      <a:noFill/>
                    </a:lnT>
                    <a:lnB>
                      <a:noFill/>
                    </a:lnB>
                  </a:tcPr>
                </a:tc>
                <a:extLst>
                  <a:ext uri="{0D108BD9-81ED-4DB2-BD59-A6C34878D82A}">
                    <a16:rowId xmlns:a16="http://schemas.microsoft.com/office/drawing/2014/main" val="638978110"/>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Midline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43.06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5.44</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41.53, 44.59</a:t>
                      </a:r>
                    </a:p>
                  </a:txBody>
                  <a:tcPr marL="68580" marR="68580" marT="0" marB="0">
                    <a:lnL>
                      <a:noFill/>
                    </a:lnL>
                    <a:lnR>
                      <a:noFill/>
                    </a:lnR>
                    <a:lnT>
                      <a:noFill/>
                    </a:lnT>
                    <a:lnB>
                      <a:noFill/>
                    </a:lnB>
                  </a:tcPr>
                </a:tc>
                <a:extLst>
                  <a:ext uri="{0D108BD9-81ED-4DB2-BD59-A6C34878D82A}">
                    <a16:rowId xmlns:a16="http://schemas.microsoft.com/office/drawing/2014/main" val="604043179"/>
                  </a:ext>
                </a:extLst>
              </a:tr>
              <a:tr h="201168">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19.33</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5.76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17.71, 20.95</a:t>
                      </a:r>
                    </a:p>
                  </a:txBody>
                  <a:tcPr marL="68580" marR="68580" marT="0" marB="0">
                    <a:lnL>
                      <a:noFill/>
                    </a:lnL>
                    <a:lnR>
                      <a:noFill/>
                    </a:lnR>
                    <a:lnT>
                      <a:noFill/>
                    </a:lnT>
                    <a:lnB>
                      <a:noFill/>
                    </a:lnB>
                  </a:tcPr>
                </a:tc>
                <a:extLst>
                  <a:ext uri="{0D108BD9-81ED-4DB2-BD59-A6C34878D82A}">
                    <a16:rowId xmlns:a16="http://schemas.microsoft.com/office/drawing/2014/main" val="4291529253"/>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Endline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43.24</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6.36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41.45, 45.03</a:t>
                      </a:r>
                    </a:p>
                  </a:txBody>
                  <a:tcPr marL="68580" marR="68580" marT="0" marB="0">
                    <a:lnL>
                      <a:noFill/>
                    </a:lnL>
                    <a:lnR>
                      <a:noFill/>
                    </a:lnR>
                    <a:lnT>
                      <a:noFill/>
                    </a:lnT>
                    <a:lnB>
                      <a:noFill/>
                    </a:lnB>
                  </a:tcPr>
                </a:tc>
                <a:extLst>
                  <a:ext uri="{0D108BD9-81ED-4DB2-BD59-A6C34878D82A}">
                    <a16:rowId xmlns:a16="http://schemas.microsoft.com/office/drawing/2014/main" val="2048882574"/>
                  </a:ext>
                </a:extLst>
              </a:tr>
              <a:tr h="201168">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8.80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3.04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7.95, 9.66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7105791"/>
                  </a:ext>
                </a:extLst>
              </a:tr>
            </a:tbl>
          </a:graphicData>
        </a:graphic>
      </p:graphicFrame>
    </p:spTree>
    <p:extLst>
      <p:ext uri="{BB962C8B-B14F-4D97-AF65-F5344CB8AC3E}">
        <p14:creationId xmlns:p14="http://schemas.microsoft.com/office/powerpoint/2010/main" val="28009999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General linear model (GLM) repeated-measures ANOVA </a:t>
            </a:r>
          </a:p>
          <a:p>
            <a:pPr lvl="0">
              <a:spcBef>
                <a:spcPts val="0"/>
              </a:spcBef>
            </a:pPr>
            <a:r>
              <a:rPr lang="en-US" sz="1900" dirty="0"/>
              <a:t>Assessed within-subject changes in PTSD severity over time by comparing the treatment and control groups. </a:t>
            </a:r>
          </a:p>
          <a:p>
            <a:pPr lvl="0">
              <a:spcBef>
                <a:spcPts val="0"/>
              </a:spcBef>
            </a:pPr>
            <a:r>
              <a:rPr lang="en-US" sz="1900" dirty="0"/>
              <a:t>Tested whether there was a difference in trajectories from baseline to midline to </a:t>
            </a:r>
            <a:r>
              <a:rPr lang="en-US" sz="1900" dirty="0" err="1"/>
              <a:t>endline</a:t>
            </a:r>
            <a:r>
              <a:rPr lang="en-US" sz="1900" dirty="0"/>
              <a:t> through two tests that: </a:t>
            </a:r>
          </a:p>
          <a:p>
            <a:pPr lvl="1">
              <a:spcBef>
                <a:spcPts val="0"/>
              </a:spcBef>
            </a:pPr>
            <a:r>
              <a:rPr lang="en-US" sz="1900" dirty="0"/>
              <a:t>Capture short- and long-term effects </a:t>
            </a:r>
          </a:p>
          <a:p>
            <a:pPr lvl="1">
              <a:spcBef>
                <a:spcPts val="0"/>
              </a:spcBef>
            </a:pPr>
            <a:r>
              <a:rPr lang="en-US" sz="1900" dirty="0"/>
              <a:t>Shows EMDR’s differential change over time </a:t>
            </a:r>
          </a:p>
          <a:p>
            <a:pPr lvl="0">
              <a:spcBef>
                <a:spcPts val="0"/>
              </a:spcBef>
            </a:pPr>
            <a:r>
              <a:rPr lang="en-US" sz="1900" dirty="0"/>
              <a:t>This approach was chosen because: </a:t>
            </a:r>
          </a:p>
          <a:p>
            <a:pPr lvl="1">
              <a:spcBef>
                <a:spcPts val="0"/>
              </a:spcBef>
            </a:pPr>
            <a:r>
              <a:rPr lang="en-US" sz="1900" dirty="0"/>
              <a:t>The same participants were measured at three time points, creating repeated measures data.</a:t>
            </a:r>
          </a:p>
          <a:p>
            <a:pPr lvl="1">
              <a:spcBef>
                <a:spcPts val="0"/>
              </a:spcBef>
            </a:pPr>
            <a:r>
              <a:rPr lang="en-US" sz="1900" dirty="0"/>
              <a:t>Repeated-measures ANOVA accounts for within-subject correlations and allows testing of time, group, and interaction effects in one model.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31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633234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algn="r"/>
            <a:r>
              <a:rPr lang="en-US" dirty="0">
                <a:solidFill>
                  <a:schemeClr val="accent5"/>
                </a:solidFill>
                <a:latin typeface="Times New Roman" panose="02020603050405020304" pitchFamily="18" charset="0"/>
                <a:cs typeface="Times New Roman" panose="02020603050405020304" pitchFamily="18" charset="0"/>
              </a:rPr>
              <a:t>Table 12: Repeated Measures ANOVA for PTSD Scores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32 </a:t>
            </a:r>
            <a:endParaRPr dirty="0"/>
          </a:p>
        </p:txBody>
      </p:sp>
      <p:sp>
        <p:nvSpPr>
          <p:cNvPr id="4" name="Rectangle 3">
            <a:extLst>
              <a:ext uri="{FF2B5EF4-FFF2-40B4-BE49-F238E27FC236}">
                <a16:creationId xmlns:a16="http://schemas.microsoft.com/office/drawing/2014/main" id="{590DD31A-0B61-1B48-A7E9-3697D9BB3865}"/>
              </a:ext>
            </a:extLst>
          </p:cNvPr>
          <p:cNvSpPr/>
          <p:nvPr/>
        </p:nvSpPr>
        <p:spPr>
          <a:xfrm>
            <a:off x="400425" y="1657631"/>
            <a:ext cx="8596765"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df</a:t>
            </a:r>
            <a:r>
              <a:rPr lang="en-US" dirty="0">
                <a:latin typeface="Times New Roman" panose="02020603050405020304" pitchFamily="18" charset="0"/>
                <a:ea typeface="Calibri" panose="020F0502020204030204" pitchFamily="34" charset="0"/>
                <a:cs typeface="Times New Roman" panose="02020603050405020304" pitchFamily="18" charset="0"/>
              </a:rPr>
              <a:t> = degrees of freedom; </a:t>
            </a:r>
            <a:r>
              <a:rPr lang="el-GR" dirty="0">
                <a:latin typeface="Times New Roman" panose="02020603050405020304" pitchFamily="18" charset="0"/>
                <a:ea typeface="Calibri" panose="020F0502020204030204" pitchFamily="34" charset="0"/>
                <a:cs typeface="Times New Roman" panose="02020603050405020304" pitchFamily="18" charset="0"/>
              </a:rPr>
              <a:t>η²ₚ = </a:t>
            </a:r>
            <a:r>
              <a:rPr lang="en-US" dirty="0">
                <a:latin typeface="Times New Roman" panose="02020603050405020304" pitchFamily="18" charset="0"/>
                <a:ea typeface="Calibri" panose="020F0502020204030204" pitchFamily="34" charset="0"/>
                <a:cs typeface="Times New Roman" panose="02020603050405020304" pitchFamily="18" charset="0"/>
              </a:rPr>
              <a:t>partial eta squared.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6A4238A-8895-A643-832B-AD04F3B44DB3}"/>
              </a:ext>
            </a:extLst>
          </p:cNvPr>
          <p:cNvGraphicFramePr>
            <a:graphicFrameLocks noGrp="1"/>
          </p:cNvGraphicFramePr>
          <p:nvPr>
            <p:extLst>
              <p:ext uri="{D42A27DB-BD31-4B8C-83A1-F6EECF244321}">
                <p14:modId xmlns:p14="http://schemas.microsoft.com/office/powerpoint/2010/main" val="988290804"/>
              </p:ext>
            </p:extLst>
          </p:nvPr>
        </p:nvGraphicFramePr>
        <p:xfrm>
          <a:off x="436495" y="748805"/>
          <a:ext cx="8524626" cy="853440"/>
        </p:xfrm>
        <a:graphic>
          <a:graphicData uri="http://schemas.openxmlformats.org/drawingml/2006/table">
            <a:tbl>
              <a:tblPr firstRow="1" firstCol="1" bandRow="1"/>
              <a:tblGrid>
                <a:gridCol w="3164341">
                  <a:extLst>
                    <a:ext uri="{9D8B030D-6E8A-4147-A177-3AD203B41FA5}">
                      <a16:colId xmlns:a16="http://schemas.microsoft.com/office/drawing/2014/main" val="1477341094"/>
                    </a:ext>
                  </a:extLst>
                </a:gridCol>
                <a:gridCol w="1505450">
                  <a:extLst>
                    <a:ext uri="{9D8B030D-6E8A-4147-A177-3AD203B41FA5}">
                      <a16:colId xmlns:a16="http://schemas.microsoft.com/office/drawing/2014/main" val="1590538051"/>
                    </a:ext>
                  </a:extLst>
                </a:gridCol>
                <a:gridCol w="1406563">
                  <a:extLst>
                    <a:ext uri="{9D8B030D-6E8A-4147-A177-3AD203B41FA5}">
                      <a16:colId xmlns:a16="http://schemas.microsoft.com/office/drawing/2014/main" val="3003915324"/>
                    </a:ext>
                  </a:extLst>
                </a:gridCol>
                <a:gridCol w="1334956">
                  <a:extLst>
                    <a:ext uri="{9D8B030D-6E8A-4147-A177-3AD203B41FA5}">
                      <a16:colId xmlns:a16="http://schemas.microsoft.com/office/drawing/2014/main" val="413655698"/>
                    </a:ext>
                  </a:extLst>
                </a:gridCol>
                <a:gridCol w="1113316">
                  <a:extLst>
                    <a:ext uri="{9D8B030D-6E8A-4147-A177-3AD203B41FA5}">
                      <a16:colId xmlns:a16="http://schemas.microsoft.com/office/drawing/2014/main" val="796111067"/>
                    </a:ext>
                  </a:extLst>
                </a:gridCol>
              </a:tblGrid>
              <a:tr h="16573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Effect</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η²</a:t>
                      </a:r>
                      <a:r>
                        <a:rPr lang="en-US" sz="1400">
                          <a:effectLst/>
                          <a:latin typeface="Segoe UI Symbol" panose="020B0502040204020203" pitchFamily="34" charset="0"/>
                          <a:ea typeface="Calibri" panose="020F0502020204030204" pitchFamily="34" charset="0"/>
                          <a:cs typeface="Segoe UI Symbol" panose="020B0502040204020203" pitchFamily="34" charset="0"/>
                        </a:rPr>
                        <a:t>ₚ</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6036058"/>
                  </a:ext>
                </a:extLst>
              </a:tr>
              <a:tr h="16573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Time</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459.91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2, 99</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.903</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268491011"/>
                  </a:ext>
                </a:extLst>
              </a:tr>
              <a:tr h="16573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Time × Group</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402.66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2, 99</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.891</a:t>
                      </a:r>
                    </a:p>
                  </a:txBody>
                  <a:tcPr marL="68580" marR="68580" marT="0" marB="0">
                    <a:lnL>
                      <a:noFill/>
                    </a:lnL>
                    <a:lnR>
                      <a:noFill/>
                    </a:lnR>
                    <a:lnT>
                      <a:noFill/>
                    </a:lnT>
                    <a:lnB>
                      <a:noFill/>
                    </a:lnB>
                  </a:tcPr>
                </a:tc>
                <a:extLst>
                  <a:ext uri="{0D108BD9-81ED-4DB2-BD59-A6C34878D82A}">
                    <a16:rowId xmlns:a16="http://schemas.microsoft.com/office/drawing/2014/main" val="1123784019"/>
                  </a:ext>
                </a:extLst>
              </a:tr>
              <a:tr h="16573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 (Between)</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622.32</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1, 100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.862</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3078154"/>
                  </a:ext>
                </a:extLst>
              </a:tr>
            </a:tbl>
          </a:graphicData>
        </a:graphic>
      </p:graphicFrame>
      <p:sp>
        <p:nvSpPr>
          <p:cNvPr id="8" name="Google Shape;213;p13">
            <a:extLst>
              <a:ext uri="{FF2B5EF4-FFF2-40B4-BE49-F238E27FC236}">
                <a16:creationId xmlns:a16="http://schemas.microsoft.com/office/drawing/2014/main" id="{F5FCA3BA-7827-7143-BB3E-3165644676C4}"/>
              </a:ext>
            </a:extLst>
          </p:cNvPr>
          <p:cNvSpPr txBox="1">
            <a:spLocks/>
          </p:cNvSpPr>
          <p:nvPr/>
        </p:nvSpPr>
        <p:spPr>
          <a:xfrm>
            <a:off x="436495" y="2212399"/>
            <a:ext cx="8524625"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13: Bonferroni-Adjusted Pairwise Comparisons for PTSD Scores across Time </a:t>
            </a:r>
          </a:p>
        </p:txBody>
      </p:sp>
      <p:graphicFrame>
        <p:nvGraphicFramePr>
          <p:cNvPr id="7" name="Table 6">
            <a:extLst>
              <a:ext uri="{FF2B5EF4-FFF2-40B4-BE49-F238E27FC236}">
                <a16:creationId xmlns:a16="http://schemas.microsoft.com/office/drawing/2014/main" id="{AE108C5F-6811-994B-95E6-17F5BB405D1F}"/>
              </a:ext>
            </a:extLst>
          </p:cNvPr>
          <p:cNvGraphicFramePr>
            <a:graphicFrameLocks noGrp="1"/>
          </p:cNvGraphicFramePr>
          <p:nvPr>
            <p:extLst>
              <p:ext uri="{D42A27DB-BD31-4B8C-83A1-F6EECF244321}">
                <p14:modId xmlns:p14="http://schemas.microsoft.com/office/powerpoint/2010/main" val="518000247"/>
              </p:ext>
            </p:extLst>
          </p:nvPr>
        </p:nvGraphicFramePr>
        <p:xfrm>
          <a:off x="400425" y="2976995"/>
          <a:ext cx="8524625" cy="853440"/>
        </p:xfrm>
        <a:graphic>
          <a:graphicData uri="http://schemas.openxmlformats.org/drawingml/2006/table">
            <a:tbl>
              <a:tblPr firstRow="1" firstCol="1" bandRow="1"/>
              <a:tblGrid>
                <a:gridCol w="2211288">
                  <a:extLst>
                    <a:ext uri="{9D8B030D-6E8A-4147-A177-3AD203B41FA5}">
                      <a16:colId xmlns:a16="http://schemas.microsoft.com/office/drawing/2014/main" val="1266381197"/>
                    </a:ext>
                  </a:extLst>
                </a:gridCol>
                <a:gridCol w="2006696">
                  <a:extLst>
                    <a:ext uri="{9D8B030D-6E8A-4147-A177-3AD203B41FA5}">
                      <a16:colId xmlns:a16="http://schemas.microsoft.com/office/drawing/2014/main" val="457790339"/>
                    </a:ext>
                  </a:extLst>
                </a:gridCol>
                <a:gridCol w="721184">
                  <a:extLst>
                    <a:ext uri="{9D8B030D-6E8A-4147-A177-3AD203B41FA5}">
                      <a16:colId xmlns:a16="http://schemas.microsoft.com/office/drawing/2014/main" val="3453211498"/>
                    </a:ext>
                  </a:extLst>
                </a:gridCol>
                <a:gridCol w="2721060">
                  <a:extLst>
                    <a:ext uri="{9D8B030D-6E8A-4147-A177-3AD203B41FA5}">
                      <a16:colId xmlns:a16="http://schemas.microsoft.com/office/drawing/2014/main" val="3166490994"/>
                    </a:ext>
                  </a:extLst>
                </a:gridCol>
                <a:gridCol w="864397">
                  <a:extLst>
                    <a:ext uri="{9D8B030D-6E8A-4147-A177-3AD203B41FA5}">
                      <a16:colId xmlns:a16="http://schemas.microsoft.com/office/drawing/2014/main" val="765120874"/>
                    </a:ext>
                  </a:extLst>
                </a:gridCol>
              </a:tblGrid>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Time Comparison</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Mean Difference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(Lower, Upper)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341671"/>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Baseline – Midline</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11.36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0.55</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10.02, 12.71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019244994"/>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Baseline – Endline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16.54</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0.55</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15.19, 17.89</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a:noFill/>
                    </a:lnB>
                  </a:tcPr>
                </a:tc>
                <a:extLst>
                  <a:ext uri="{0D108BD9-81ED-4DB2-BD59-A6C34878D82A}">
                    <a16:rowId xmlns:a16="http://schemas.microsoft.com/office/drawing/2014/main" val="3385256737"/>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Midline – Endline</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5.18</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0.55</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3.84, 6.51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4838862"/>
                  </a:ext>
                </a:extLst>
              </a:tr>
            </a:tbl>
          </a:graphicData>
        </a:graphic>
      </p:graphicFrame>
      <p:sp>
        <p:nvSpPr>
          <p:cNvPr id="11" name="Rectangle 10">
            <a:extLst>
              <a:ext uri="{FF2B5EF4-FFF2-40B4-BE49-F238E27FC236}">
                <a16:creationId xmlns:a16="http://schemas.microsoft.com/office/drawing/2014/main" id="{BA15A929-25D7-F34F-A83E-412412F1E4B6}"/>
              </a:ext>
            </a:extLst>
          </p:cNvPr>
          <p:cNvSpPr/>
          <p:nvPr/>
        </p:nvSpPr>
        <p:spPr>
          <a:xfrm>
            <a:off x="400425" y="3890464"/>
            <a:ext cx="8596765"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Positive values indicate reductions in PTSD scores over time.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67519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Analysis of co-variance (ANCOVA) at midline </a:t>
            </a:r>
          </a:p>
          <a:p>
            <a:pPr lvl="0">
              <a:spcBef>
                <a:spcPts val="0"/>
              </a:spcBef>
            </a:pPr>
            <a:r>
              <a:rPr lang="en-US" sz="1900" dirty="0"/>
              <a:t>Conducted to compare PTSD scores between the treatment and control groups at midline, while controlling for baseline PTSD scores. </a:t>
            </a:r>
          </a:p>
          <a:p>
            <a:pPr lvl="0">
              <a:spcBef>
                <a:spcPts val="0"/>
              </a:spcBef>
            </a:pPr>
            <a:r>
              <a:rPr lang="en-US" sz="1900" dirty="0"/>
              <a:t>This approach was chosen because: </a:t>
            </a:r>
          </a:p>
          <a:p>
            <a:pPr lvl="1">
              <a:spcBef>
                <a:spcPts val="0"/>
              </a:spcBef>
              <a:buClr>
                <a:schemeClr val="accent4">
                  <a:lumMod val="75000"/>
                </a:schemeClr>
              </a:buClr>
            </a:pPr>
            <a:r>
              <a:rPr lang="en-US" sz="1900" dirty="0"/>
              <a:t>ANCOVA removes baseline variability, providing a more accurate estimate of the treatment’s short-term effect. </a:t>
            </a:r>
          </a:p>
          <a:p>
            <a:pPr lvl="1">
              <a:spcBef>
                <a:spcPts val="0"/>
              </a:spcBef>
              <a:buClr>
                <a:schemeClr val="accent4">
                  <a:lumMod val="75000"/>
                </a:schemeClr>
              </a:buClr>
            </a:pPr>
            <a:r>
              <a:rPr lang="en-US" sz="1900" dirty="0"/>
              <a:t>Adjusting for baseline ensures differences at follow-up are not simply due to initial group imbalances. </a:t>
            </a:r>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33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08744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algn="r"/>
            <a:r>
              <a:rPr lang="en-US" dirty="0">
                <a:solidFill>
                  <a:schemeClr val="accent5"/>
                </a:solidFill>
                <a:latin typeface="Times New Roman" panose="02020603050405020304" pitchFamily="18" charset="0"/>
                <a:cs typeface="Times New Roman" panose="02020603050405020304" pitchFamily="18" charset="0"/>
              </a:rPr>
              <a:t>Table 14: Adjusted Means and Standard Errors of PTSD Scores at Midline by Group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34 </a:t>
            </a:r>
            <a:endParaRPr dirty="0"/>
          </a:p>
        </p:txBody>
      </p:sp>
      <p:sp>
        <p:nvSpPr>
          <p:cNvPr id="8" name="Google Shape;213;p13">
            <a:extLst>
              <a:ext uri="{FF2B5EF4-FFF2-40B4-BE49-F238E27FC236}">
                <a16:creationId xmlns:a16="http://schemas.microsoft.com/office/drawing/2014/main" id="{F5FCA3BA-7827-7143-BB3E-3165644676C4}"/>
              </a:ext>
            </a:extLst>
          </p:cNvPr>
          <p:cNvSpPr txBox="1">
            <a:spLocks/>
          </p:cNvSpPr>
          <p:nvPr/>
        </p:nvSpPr>
        <p:spPr>
          <a:xfrm>
            <a:off x="436495" y="2212399"/>
            <a:ext cx="8524625"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15: ANCOVA Summary for PTSD Scores at Midline (Baseline PTSD as Covariate) </a:t>
            </a:r>
          </a:p>
        </p:txBody>
      </p:sp>
      <p:graphicFrame>
        <p:nvGraphicFramePr>
          <p:cNvPr id="3" name="Table 2">
            <a:extLst>
              <a:ext uri="{FF2B5EF4-FFF2-40B4-BE49-F238E27FC236}">
                <a16:creationId xmlns:a16="http://schemas.microsoft.com/office/drawing/2014/main" id="{4D4E8EA2-DD7B-0C46-B476-FECF1A40E5FC}"/>
              </a:ext>
            </a:extLst>
          </p:cNvPr>
          <p:cNvGraphicFramePr>
            <a:graphicFrameLocks noGrp="1"/>
          </p:cNvGraphicFramePr>
          <p:nvPr>
            <p:extLst>
              <p:ext uri="{D42A27DB-BD31-4B8C-83A1-F6EECF244321}">
                <p14:modId xmlns:p14="http://schemas.microsoft.com/office/powerpoint/2010/main" val="2492624723"/>
              </p:ext>
            </p:extLst>
          </p:nvPr>
        </p:nvGraphicFramePr>
        <p:xfrm>
          <a:off x="436494" y="812829"/>
          <a:ext cx="8524626" cy="640080"/>
        </p:xfrm>
        <a:graphic>
          <a:graphicData uri="http://schemas.openxmlformats.org/drawingml/2006/table">
            <a:tbl>
              <a:tblPr firstRow="1" firstCol="1" bandRow="1"/>
              <a:tblGrid>
                <a:gridCol w="1515679">
                  <a:extLst>
                    <a:ext uri="{9D8B030D-6E8A-4147-A177-3AD203B41FA5}">
                      <a16:colId xmlns:a16="http://schemas.microsoft.com/office/drawing/2014/main" val="3137733860"/>
                    </a:ext>
                  </a:extLst>
                </a:gridCol>
                <a:gridCol w="2108992">
                  <a:extLst>
                    <a:ext uri="{9D8B030D-6E8A-4147-A177-3AD203B41FA5}">
                      <a16:colId xmlns:a16="http://schemas.microsoft.com/office/drawing/2014/main" val="749483346"/>
                    </a:ext>
                  </a:extLst>
                </a:gridCol>
                <a:gridCol w="826889">
                  <a:extLst>
                    <a:ext uri="{9D8B030D-6E8A-4147-A177-3AD203B41FA5}">
                      <a16:colId xmlns:a16="http://schemas.microsoft.com/office/drawing/2014/main" val="4274336510"/>
                    </a:ext>
                  </a:extLst>
                </a:gridCol>
                <a:gridCol w="2052730">
                  <a:extLst>
                    <a:ext uri="{9D8B030D-6E8A-4147-A177-3AD203B41FA5}">
                      <a16:colId xmlns:a16="http://schemas.microsoft.com/office/drawing/2014/main" val="885394139"/>
                    </a:ext>
                  </a:extLst>
                </a:gridCol>
                <a:gridCol w="2020336">
                  <a:extLst>
                    <a:ext uri="{9D8B030D-6E8A-4147-A177-3AD203B41FA5}">
                      <a16:colId xmlns:a16="http://schemas.microsoft.com/office/drawing/2014/main" val="2429123515"/>
                    </a:ext>
                  </a:extLst>
                </a:gridCol>
              </a:tblGrid>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Adjusted Mean</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Lower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Upper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3049170"/>
                  </a:ext>
                </a:extLst>
              </a:tr>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42.32</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0.66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41.02</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43.63</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390237901"/>
                  </a:ext>
                </a:extLst>
              </a:tr>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20.30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0.66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18.99</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21.60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2919845"/>
                  </a:ext>
                </a:extLst>
              </a:tr>
            </a:tbl>
          </a:graphicData>
        </a:graphic>
      </p:graphicFrame>
      <p:graphicFrame>
        <p:nvGraphicFramePr>
          <p:cNvPr id="9" name="Table 8">
            <a:extLst>
              <a:ext uri="{FF2B5EF4-FFF2-40B4-BE49-F238E27FC236}">
                <a16:creationId xmlns:a16="http://schemas.microsoft.com/office/drawing/2014/main" id="{D8DA7F4E-F698-B34C-A85A-7571404E24C4}"/>
              </a:ext>
            </a:extLst>
          </p:cNvPr>
          <p:cNvGraphicFramePr>
            <a:graphicFrameLocks noGrp="1"/>
          </p:cNvGraphicFramePr>
          <p:nvPr>
            <p:extLst>
              <p:ext uri="{D42A27DB-BD31-4B8C-83A1-F6EECF244321}">
                <p14:modId xmlns:p14="http://schemas.microsoft.com/office/powerpoint/2010/main" val="3451410909"/>
              </p:ext>
            </p:extLst>
          </p:nvPr>
        </p:nvGraphicFramePr>
        <p:xfrm>
          <a:off x="436494" y="3030805"/>
          <a:ext cx="8524625" cy="853440"/>
        </p:xfrm>
        <a:graphic>
          <a:graphicData uri="http://schemas.openxmlformats.org/drawingml/2006/table">
            <a:tbl>
              <a:tblPr firstRow="1" firstCol="1" bandRow="1"/>
              <a:tblGrid>
                <a:gridCol w="2330278">
                  <a:extLst>
                    <a:ext uri="{9D8B030D-6E8A-4147-A177-3AD203B41FA5}">
                      <a16:colId xmlns:a16="http://schemas.microsoft.com/office/drawing/2014/main" val="3652560431"/>
                    </a:ext>
                  </a:extLst>
                </a:gridCol>
                <a:gridCol w="1445886">
                  <a:extLst>
                    <a:ext uri="{9D8B030D-6E8A-4147-A177-3AD203B41FA5}">
                      <a16:colId xmlns:a16="http://schemas.microsoft.com/office/drawing/2014/main" val="994568897"/>
                    </a:ext>
                  </a:extLst>
                </a:gridCol>
                <a:gridCol w="611720">
                  <a:extLst>
                    <a:ext uri="{9D8B030D-6E8A-4147-A177-3AD203B41FA5}">
                      <a16:colId xmlns:a16="http://schemas.microsoft.com/office/drawing/2014/main" val="847949334"/>
                    </a:ext>
                  </a:extLst>
                </a:gridCol>
                <a:gridCol w="1445886">
                  <a:extLst>
                    <a:ext uri="{9D8B030D-6E8A-4147-A177-3AD203B41FA5}">
                      <a16:colId xmlns:a16="http://schemas.microsoft.com/office/drawing/2014/main" val="105320514"/>
                    </a:ext>
                  </a:extLst>
                </a:gridCol>
                <a:gridCol w="1074548">
                  <a:extLst>
                    <a:ext uri="{9D8B030D-6E8A-4147-A177-3AD203B41FA5}">
                      <a16:colId xmlns:a16="http://schemas.microsoft.com/office/drawing/2014/main" val="4045038790"/>
                    </a:ext>
                  </a:extLst>
                </a:gridCol>
                <a:gridCol w="913097">
                  <a:extLst>
                    <a:ext uri="{9D8B030D-6E8A-4147-A177-3AD203B41FA5}">
                      <a16:colId xmlns:a16="http://schemas.microsoft.com/office/drawing/2014/main" val="2599194680"/>
                    </a:ext>
                  </a:extLst>
                </a:gridCol>
                <a:gridCol w="703210">
                  <a:extLst>
                    <a:ext uri="{9D8B030D-6E8A-4147-A177-3AD203B41FA5}">
                      <a16:colId xmlns:a16="http://schemas.microsoft.com/office/drawing/2014/main" val="2600645400"/>
                    </a:ext>
                  </a:extLst>
                </a:gridCol>
              </a:tblGrid>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Source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SS</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MS</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η²</a:t>
                      </a:r>
                      <a:r>
                        <a:rPr lang="en-US" sz="1400">
                          <a:effectLst/>
                          <a:latin typeface="Segoe UI Symbol" panose="020B0502040204020203" pitchFamily="34" charset="0"/>
                          <a:ea typeface="Calibri" panose="020F0502020204030204" pitchFamily="34" charset="0"/>
                          <a:cs typeface="Segoe UI Symbol" panose="020B0502040204020203" pitchFamily="34" charset="0"/>
                        </a:rPr>
                        <a:t>ₚ</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6142132"/>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Baseline PTSD</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817.31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817.31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35.14</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.237</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1387085"/>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12038.26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12038.26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517.57</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.821</a:t>
                      </a:r>
                    </a:p>
                  </a:txBody>
                  <a:tcPr marL="68580" marR="68580" marT="0" marB="0">
                    <a:lnL>
                      <a:noFill/>
                    </a:lnL>
                    <a:lnR>
                      <a:noFill/>
                    </a:lnR>
                    <a:lnT>
                      <a:noFill/>
                    </a:lnT>
                    <a:lnB>
                      <a:noFill/>
                    </a:lnB>
                  </a:tcPr>
                </a:tc>
                <a:extLst>
                  <a:ext uri="{0D108BD9-81ED-4DB2-BD59-A6C34878D82A}">
                    <a16:rowId xmlns:a16="http://schemas.microsoft.com/office/drawing/2014/main" val="2088194440"/>
                  </a:ext>
                </a:extLst>
              </a:tr>
              <a:tr h="201168">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Error</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2628.27</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113</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23.26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dirty="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4266325"/>
                  </a:ext>
                </a:extLst>
              </a:tr>
            </a:tbl>
          </a:graphicData>
        </a:graphic>
      </p:graphicFrame>
    </p:spTree>
    <p:extLst>
      <p:ext uri="{BB962C8B-B14F-4D97-AF65-F5344CB8AC3E}">
        <p14:creationId xmlns:p14="http://schemas.microsoft.com/office/powerpoint/2010/main" val="37855289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INFERENTIAL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Analysis of co-variance (ANCOVA) at </a:t>
            </a:r>
            <a:r>
              <a:rPr lang="en-US" sz="1900" b="1" dirty="0" err="1"/>
              <a:t>endline</a:t>
            </a:r>
            <a:r>
              <a:rPr lang="en-US" sz="1900" b="1" dirty="0"/>
              <a:t> </a:t>
            </a:r>
          </a:p>
          <a:p>
            <a:pPr lvl="0">
              <a:spcBef>
                <a:spcPts val="0"/>
              </a:spcBef>
            </a:pPr>
            <a:r>
              <a:rPr lang="en-US" sz="1900" dirty="0"/>
              <a:t>Conducted to compare PTSD scores between the treatment and control groups at </a:t>
            </a:r>
            <a:r>
              <a:rPr lang="en-US" sz="1900" dirty="0" err="1"/>
              <a:t>endline</a:t>
            </a:r>
            <a:r>
              <a:rPr lang="en-US" sz="1900" dirty="0"/>
              <a:t> (3-month follow-up), while controlling for baseline PTSD scores. </a:t>
            </a:r>
          </a:p>
          <a:p>
            <a:pPr lvl="0">
              <a:spcBef>
                <a:spcPts val="0"/>
              </a:spcBef>
            </a:pPr>
            <a:r>
              <a:rPr lang="en-US" sz="1900" dirty="0"/>
              <a:t>  This approach was chosen because: </a:t>
            </a:r>
          </a:p>
          <a:p>
            <a:pPr lvl="1">
              <a:spcBef>
                <a:spcPts val="0"/>
              </a:spcBef>
              <a:buClr>
                <a:schemeClr val="accent4">
                  <a:lumMod val="75000"/>
                </a:schemeClr>
              </a:buClr>
            </a:pPr>
            <a:r>
              <a:rPr lang="en-US" sz="1900" dirty="0"/>
              <a:t>ANCOVA removes baseline variability, providing a more accurate estimate of the treatment’s long-term effect. </a:t>
            </a:r>
          </a:p>
          <a:p>
            <a:pPr lvl="1">
              <a:spcBef>
                <a:spcPts val="0"/>
              </a:spcBef>
              <a:buClr>
                <a:schemeClr val="accent4">
                  <a:lumMod val="75000"/>
                </a:schemeClr>
              </a:buClr>
            </a:pPr>
            <a:r>
              <a:rPr lang="en-US" sz="1900" dirty="0"/>
              <a:t>Adjusting for baseline ensures differences at follow-up are not simply due to initial group imbalances. </a:t>
            </a:r>
          </a:p>
          <a:p>
            <a:pPr lvl="0">
              <a:spcBef>
                <a:spcPts val="0"/>
              </a:spcBef>
            </a:pPr>
            <a:endParaRPr lang="en-US" sz="1900" dirty="0"/>
          </a:p>
          <a:p>
            <a:pPr marL="76200" lvl="0" indent="0">
              <a:spcBef>
                <a:spcPts val="0"/>
              </a:spcBef>
              <a:buNone/>
            </a:pPr>
            <a:endParaRPr lang="en-US" sz="19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35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697515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algn="r"/>
            <a:r>
              <a:rPr lang="en-US" dirty="0">
                <a:solidFill>
                  <a:schemeClr val="accent5"/>
                </a:solidFill>
                <a:latin typeface="Times New Roman" panose="02020603050405020304" pitchFamily="18" charset="0"/>
                <a:cs typeface="Times New Roman" panose="02020603050405020304" pitchFamily="18" charset="0"/>
              </a:rPr>
              <a:t>Table 16: Adjusted Means and Standard Errors of PTSD Scores at </a:t>
            </a:r>
            <a:r>
              <a:rPr lang="en-US" dirty="0" err="1">
                <a:solidFill>
                  <a:schemeClr val="accent5"/>
                </a:solidFill>
                <a:latin typeface="Times New Roman" panose="02020603050405020304" pitchFamily="18" charset="0"/>
                <a:cs typeface="Times New Roman" panose="02020603050405020304" pitchFamily="18" charset="0"/>
              </a:rPr>
              <a:t>Endline</a:t>
            </a:r>
            <a:r>
              <a:rPr lang="en-US" dirty="0">
                <a:solidFill>
                  <a:schemeClr val="accent5"/>
                </a:solidFill>
                <a:latin typeface="Times New Roman" panose="02020603050405020304" pitchFamily="18" charset="0"/>
                <a:cs typeface="Times New Roman" panose="02020603050405020304" pitchFamily="18" charset="0"/>
              </a:rPr>
              <a:t> by Group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36 </a:t>
            </a:r>
            <a:endParaRPr dirty="0"/>
          </a:p>
        </p:txBody>
      </p:sp>
      <p:sp>
        <p:nvSpPr>
          <p:cNvPr id="8" name="Google Shape;213;p13">
            <a:extLst>
              <a:ext uri="{FF2B5EF4-FFF2-40B4-BE49-F238E27FC236}">
                <a16:creationId xmlns:a16="http://schemas.microsoft.com/office/drawing/2014/main" id="{F5FCA3BA-7827-7143-BB3E-3165644676C4}"/>
              </a:ext>
            </a:extLst>
          </p:cNvPr>
          <p:cNvSpPr txBox="1">
            <a:spLocks/>
          </p:cNvSpPr>
          <p:nvPr/>
        </p:nvSpPr>
        <p:spPr>
          <a:xfrm>
            <a:off x="436495" y="2212399"/>
            <a:ext cx="8524625"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Table 17: ANCOVA Summary for PTSD Scores at </a:t>
            </a:r>
            <a:r>
              <a:rPr lang="en-US" dirty="0" err="1">
                <a:solidFill>
                  <a:schemeClr val="accent5"/>
                </a:solidFill>
                <a:latin typeface="Times New Roman" panose="02020603050405020304" pitchFamily="18" charset="0"/>
                <a:cs typeface="Times New Roman" panose="02020603050405020304" pitchFamily="18" charset="0"/>
              </a:rPr>
              <a:t>Endline</a:t>
            </a:r>
            <a:r>
              <a:rPr lang="en-US" dirty="0">
                <a:solidFill>
                  <a:schemeClr val="accent5"/>
                </a:solidFill>
                <a:latin typeface="Times New Roman" panose="02020603050405020304" pitchFamily="18" charset="0"/>
                <a:cs typeface="Times New Roman" panose="02020603050405020304" pitchFamily="18" charset="0"/>
              </a:rPr>
              <a:t> (Baseline PTSD as Covariate) </a:t>
            </a:r>
          </a:p>
        </p:txBody>
      </p:sp>
      <p:graphicFrame>
        <p:nvGraphicFramePr>
          <p:cNvPr id="12" name="Table 11">
            <a:extLst>
              <a:ext uri="{FF2B5EF4-FFF2-40B4-BE49-F238E27FC236}">
                <a16:creationId xmlns:a16="http://schemas.microsoft.com/office/drawing/2014/main" id="{794A04F8-7F46-2847-A269-FFC879388B1C}"/>
              </a:ext>
            </a:extLst>
          </p:cNvPr>
          <p:cNvGraphicFramePr>
            <a:graphicFrameLocks noGrp="1"/>
          </p:cNvGraphicFramePr>
          <p:nvPr>
            <p:extLst>
              <p:ext uri="{D42A27DB-BD31-4B8C-83A1-F6EECF244321}">
                <p14:modId xmlns:p14="http://schemas.microsoft.com/office/powerpoint/2010/main" val="853707538"/>
              </p:ext>
            </p:extLst>
          </p:nvPr>
        </p:nvGraphicFramePr>
        <p:xfrm>
          <a:off x="436494" y="812829"/>
          <a:ext cx="8524625" cy="640080"/>
        </p:xfrm>
        <a:graphic>
          <a:graphicData uri="http://schemas.openxmlformats.org/drawingml/2006/table">
            <a:tbl>
              <a:tblPr firstRow="1" firstCol="1" bandRow="1"/>
              <a:tblGrid>
                <a:gridCol w="1515679">
                  <a:extLst>
                    <a:ext uri="{9D8B030D-6E8A-4147-A177-3AD203B41FA5}">
                      <a16:colId xmlns:a16="http://schemas.microsoft.com/office/drawing/2014/main" val="1331371794"/>
                    </a:ext>
                  </a:extLst>
                </a:gridCol>
                <a:gridCol w="2108991">
                  <a:extLst>
                    <a:ext uri="{9D8B030D-6E8A-4147-A177-3AD203B41FA5}">
                      <a16:colId xmlns:a16="http://schemas.microsoft.com/office/drawing/2014/main" val="2084375974"/>
                    </a:ext>
                  </a:extLst>
                </a:gridCol>
                <a:gridCol w="826889">
                  <a:extLst>
                    <a:ext uri="{9D8B030D-6E8A-4147-A177-3AD203B41FA5}">
                      <a16:colId xmlns:a16="http://schemas.microsoft.com/office/drawing/2014/main" val="1138228542"/>
                    </a:ext>
                  </a:extLst>
                </a:gridCol>
                <a:gridCol w="2052730">
                  <a:extLst>
                    <a:ext uri="{9D8B030D-6E8A-4147-A177-3AD203B41FA5}">
                      <a16:colId xmlns:a16="http://schemas.microsoft.com/office/drawing/2014/main" val="378035266"/>
                    </a:ext>
                  </a:extLst>
                </a:gridCol>
                <a:gridCol w="2020336">
                  <a:extLst>
                    <a:ext uri="{9D8B030D-6E8A-4147-A177-3AD203B41FA5}">
                      <a16:colId xmlns:a16="http://schemas.microsoft.com/office/drawing/2014/main" val="2234271230"/>
                    </a:ext>
                  </a:extLst>
                </a:gridCol>
              </a:tblGrid>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Adjusted Mean</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Lower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95% CI Upper</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2769107"/>
                  </a:ext>
                </a:extLst>
              </a:tr>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42.62</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0.66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41.30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43.94</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45860532"/>
                  </a:ext>
                </a:extLst>
              </a:tr>
              <a:tr h="136525">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9.42</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0.66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8.10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10.74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209011"/>
                  </a:ext>
                </a:extLst>
              </a:tr>
            </a:tbl>
          </a:graphicData>
        </a:graphic>
      </p:graphicFrame>
      <p:graphicFrame>
        <p:nvGraphicFramePr>
          <p:cNvPr id="14" name="Table 13">
            <a:extLst>
              <a:ext uri="{FF2B5EF4-FFF2-40B4-BE49-F238E27FC236}">
                <a16:creationId xmlns:a16="http://schemas.microsoft.com/office/drawing/2014/main" id="{E8C4B8F4-BB09-234E-8460-896EDE9A7EE0}"/>
              </a:ext>
            </a:extLst>
          </p:cNvPr>
          <p:cNvGraphicFramePr>
            <a:graphicFrameLocks noGrp="1"/>
          </p:cNvGraphicFramePr>
          <p:nvPr>
            <p:extLst>
              <p:ext uri="{D42A27DB-BD31-4B8C-83A1-F6EECF244321}">
                <p14:modId xmlns:p14="http://schemas.microsoft.com/office/powerpoint/2010/main" val="2791687323"/>
              </p:ext>
            </p:extLst>
          </p:nvPr>
        </p:nvGraphicFramePr>
        <p:xfrm>
          <a:off x="436494" y="3023570"/>
          <a:ext cx="8524625" cy="853440"/>
        </p:xfrm>
        <a:graphic>
          <a:graphicData uri="http://schemas.openxmlformats.org/drawingml/2006/table">
            <a:tbl>
              <a:tblPr firstRow="1" firstCol="1" bandRow="1"/>
              <a:tblGrid>
                <a:gridCol w="2086828">
                  <a:extLst>
                    <a:ext uri="{9D8B030D-6E8A-4147-A177-3AD203B41FA5}">
                      <a16:colId xmlns:a16="http://schemas.microsoft.com/office/drawing/2014/main" val="779315792"/>
                    </a:ext>
                  </a:extLst>
                </a:gridCol>
                <a:gridCol w="1396333">
                  <a:extLst>
                    <a:ext uri="{9D8B030D-6E8A-4147-A177-3AD203B41FA5}">
                      <a16:colId xmlns:a16="http://schemas.microsoft.com/office/drawing/2014/main" val="3854110378"/>
                    </a:ext>
                  </a:extLst>
                </a:gridCol>
                <a:gridCol w="600134">
                  <a:extLst>
                    <a:ext uri="{9D8B030D-6E8A-4147-A177-3AD203B41FA5}">
                      <a16:colId xmlns:a16="http://schemas.microsoft.com/office/drawing/2014/main" val="1690253821"/>
                    </a:ext>
                  </a:extLst>
                </a:gridCol>
                <a:gridCol w="1394629">
                  <a:extLst>
                    <a:ext uri="{9D8B030D-6E8A-4147-A177-3AD203B41FA5}">
                      <a16:colId xmlns:a16="http://schemas.microsoft.com/office/drawing/2014/main" val="1281781009"/>
                    </a:ext>
                  </a:extLst>
                </a:gridCol>
                <a:gridCol w="1251415">
                  <a:extLst>
                    <a:ext uri="{9D8B030D-6E8A-4147-A177-3AD203B41FA5}">
                      <a16:colId xmlns:a16="http://schemas.microsoft.com/office/drawing/2014/main" val="1917371253"/>
                    </a:ext>
                  </a:extLst>
                </a:gridCol>
                <a:gridCol w="980332">
                  <a:extLst>
                    <a:ext uri="{9D8B030D-6E8A-4147-A177-3AD203B41FA5}">
                      <a16:colId xmlns:a16="http://schemas.microsoft.com/office/drawing/2014/main" val="897272052"/>
                    </a:ext>
                  </a:extLst>
                </a:gridCol>
                <a:gridCol w="814954">
                  <a:extLst>
                    <a:ext uri="{9D8B030D-6E8A-4147-A177-3AD203B41FA5}">
                      <a16:colId xmlns:a16="http://schemas.microsoft.com/office/drawing/2014/main" val="3653804317"/>
                    </a:ext>
                  </a:extLst>
                </a:gridCol>
              </a:tblGrid>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Source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SS</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df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MS</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F</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η²</a:t>
                      </a:r>
                      <a:r>
                        <a:rPr lang="en-US" sz="1400">
                          <a:effectLst/>
                          <a:latin typeface="Segoe UI Symbol" panose="020B0502040204020203" pitchFamily="34" charset="0"/>
                          <a:ea typeface="Calibri" panose="020F0502020204030204" pitchFamily="34" charset="0"/>
                          <a:cs typeface="Segoe UI Symbol" panose="020B0502040204020203" pitchFamily="34" charset="0"/>
                        </a:rPr>
                        <a:t>ₚ</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7778882"/>
                  </a:ext>
                </a:extLst>
              </a:tr>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Baseline PTSD</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372.88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372.88</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17.46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.150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60749805"/>
                  </a:ext>
                </a:extLst>
              </a:tr>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25454.86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25454.86</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1191.88</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&lt;.001</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.923</a:t>
                      </a:r>
                    </a:p>
                  </a:txBody>
                  <a:tcPr marL="68580" marR="68580" marT="0" marB="0">
                    <a:lnL>
                      <a:noFill/>
                    </a:lnL>
                    <a:lnR>
                      <a:noFill/>
                    </a:lnR>
                    <a:lnT>
                      <a:noFill/>
                    </a:lnT>
                    <a:lnB>
                      <a:noFill/>
                    </a:lnB>
                  </a:tcPr>
                </a:tc>
                <a:extLst>
                  <a:ext uri="{0D108BD9-81ED-4DB2-BD59-A6C34878D82A}">
                    <a16:rowId xmlns:a16="http://schemas.microsoft.com/office/drawing/2014/main" val="3706152944"/>
                  </a:ext>
                </a:extLst>
              </a:tr>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Error</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2114.34</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99</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21.36</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pPr>
                      <a:endParaRPr lang="en-US" sz="1400" dirty="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1964431"/>
                  </a:ext>
                </a:extLst>
              </a:tr>
            </a:tbl>
          </a:graphicData>
        </a:graphic>
      </p:graphicFrame>
    </p:spTree>
    <p:extLst>
      <p:ext uri="{BB962C8B-B14F-4D97-AF65-F5344CB8AC3E}">
        <p14:creationId xmlns:p14="http://schemas.microsoft.com/office/powerpoint/2010/main" val="28889337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Frequency analysis </a:t>
            </a:r>
          </a:p>
          <a:p>
            <a:pPr lvl="0">
              <a:spcBef>
                <a:spcPts val="0"/>
              </a:spcBef>
            </a:pPr>
            <a:r>
              <a:rPr lang="en-US" sz="1900" dirty="0"/>
              <a:t>Obtained counts and percentages for each socio-demographic category across the entire sample. </a:t>
            </a:r>
          </a:p>
          <a:p>
            <a:pPr lvl="0">
              <a:spcBef>
                <a:spcPts val="0"/>
              </a:spcBef>
            </a:pPr>
            <a:r>
              <a:rPr lang="en-US" sz="1900" dirty="0"/>
              <a:t>Chosen to describe the characteristics of the entire study sample (treatment and control combined). </a:t>
            </a:r>
          </a:p>
          <a:p>
            <a:pPr lvl="0">
              <a:spcBef>
                <a:spcPts val="0"/>
              </a:spcBef>
            </a:pPr>
            <a:r>
              <a:rPr lang="en-US" sz="1900" dirty="0"/>
              <a:t>The approach was chosen because: </a:t>
            </a:r>
          </a:p>
          <a:p>
            <a:pPr lvl="1">
              <a:spcBef>
                <a:spcPts val="0"/>
              </a:spcBef>
              <a:buClr>
                <a:schemeClr val="accent4">
                  <a:lumMod val="75000"/>
                </a:schemeClr>
              </a:buClr>
            </a:pPr>
            <a:r>
              <a:rPr lang="en-US" sz="1900" dirty="0"/>
              <a:t>All socio-demographic variables were nominal or ordinal; measures such as means and standard deviations would not be meaningful. </a:t>
            </a:r>
          </a:p>
          <a:p>
            <a:pPr lvl="1">
              <a:spcBef>
                <a:spcPts val="0"/>
              </a:spcBef>
              <a:buClr>
                <a:schemeClr val="accent4">
                  <a:lumMod val="75000"/>
                </a:schemeClr>
              </a:buClr>
            </a:pPr>
            <a:r>
              <a:rPr lang="en-US" sz="1900" dirty="0"/>
              <a:t>Frequencies and percentages provide a direct representation of category distribution without assuming equal intervals or a normal distribution.</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6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76941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DESCRIPTIVE &amp; INFERENTIALANALYSIS  </a:t>
            </a:r>
            <a:endParaRPr dirty="0"/>
          </a:p>
        </p:txBody>
      </p:sp>
      <p:sp>
        <p:nvSpPr>
          <p:cNvPr id="237" name="Google Shape;237;p16"/>
          <p:cNvSpPr txBox="1">
            <a:spLocks noGrp="1"/>
          </p:cNvSpPr>
          <p:nvPr>
            <p:ph type="body" idx="1"/>
          </p:nvPr>
        </p:nvSpPr>
        <p:spPr>
          <a:xfrm>
            <a:off x="0" y="959395"/>
            <a:ext cx="9105400" cy="4184106"/>
          </a:xfrm>
          <a:prstGeom prst="rect">
            <a:avLst/>
          </a:prstGeom>
        </p:spPr>
        <p:txBody>
          <a:bodyPr spcFirstLastPara="1" wrap="square" lIns="91425" tIns="91425" rIns="91425" bIns="91425" anchor="ctr" anchorCtr="0">
            <a:noAutofit/>
          </a:bodyPr>
          <a:lstStyle/>
          <a:p>
            <a:pPr marL="76200" lvl="0" indent="0">
              <a:spcBef>
                <a:spcPts val="0"/>
              </a:spcBef>
              <a:buNone/>
            </a:pPr>
            <a:r>
              <a:rPr lang="en-US" sz="1900" b="1" dirty="0"/>
              <a:t>Frequency and crosstabulation analysis </a:t>
            </a:r>
          </a:p>
          <a:p>
            <a:pPr lvl="0">
              <a:spcBef>
                <a:spcPts val="0"/>
              </a:spcBef>
            </a:pPr>
            <a:r>
              <a:rPr lang="en-US" sz="1900" dirty="0"/>
              <a:t>Obtained counts and percentages of remission and no remission rates in treatment and control groups and computed the significance of each proportion. </a:t>
            </a:r>
          </a:p>
          <a:p>
            <a:pPr lvl="0">
              <a:spcBef>
                <a:spcPts val="0"/>
              </a:spcBef>
            </a:pPr>
            <a:r>
              <a:rPr lang="en-US" sz="1900" dirty="0"/>
              <a:t>Conducted to: </a:t>
            </a:r>
          </a:p>
          <a:p>
            <a:pPr lvl="1">
              <a:spcBef>
                <a:spcPts val="0"/>
              </a:spcBef>
              <a:buClr>
                <a:schemeClr val="accent4">
                  <a:lumMod val="75000"/>
                </a:schemeClr>
              </a:buClr>
            </a:pPr>
            <a:r>
              <a:rPr lang="en-US" sz="1900" dirty="0"/>
              <a:t>Determine the proportion of participants in each group who achieved remission (≥10-point reduction in PCL-5 from baseline) at midline and at </a:t>
            </a:r>
            <a:r>
              <a:rPr lang="en-US" sz="1900" dirty="0" err="1"/>
              <a:t>endline</a:t>
            </a:r>
            <a:r>
              <a:rPr lang="en-US" sz="1900" dirty="0"/>
              <a:t> </a:t>
            </a:r>
          </a:p>
          <a:p>
            <a:pPr lvl="1">
              <a:spcBef>
                <a:spcPts val="0"/>
              </a:spcBef>
              <a:buClr>
                <a:schemeClr val="accent4">
                  <a:lumMod val="75000"/>
                </a:schemeClr>
              </a:buClr>
            </a:pPr>
            <a:r>
              <a:rPr lang="en-US" sz="1900" dirty="0"/>
              <a:t>Compare these proportions statistically.</a:t>
            </a:r>
          </a:p>
          <a:p>
            <a:pPr lvl="0">
              <a:spcBef>
                <a:spcPts val="0"/>
              </a:spcBef>
            </a:pPr>
            <a:r>
              <a:rPr lang="en-US" sz="1900" dirty="0"/>
              <a:t>  This approach was chosen because: </a:t>
            </a:r>
          </a:p>
          <a:p>
            <a:pPr lvl="1">
              <a:spcBef>
                <a:spcPts val="0"/>
              </a:spcBef>
            </a:pPr>
            <a:r>
              <a:rPr lang="en-US" sz="1900" dirty="0"/>
              <a:t>Crosstabulation with Chi-square or Fisher’s Exact test is the standard approach for testing associations between two categorical variables (group × remission status). </a:t>
            </a:r>
          </a:p>
          <a:p>
            <a:pPr lvl="1">
              <a:spcBef>
                <a:spcPts val="0"/>
              </a:spcBef>
            </a:pPr>
            <a:r>
              <a:rPr lang="en-US" sz="1900" dirty="0"/>
              <a:t>This analysis provides a clinically interpretable outcome alongside continuous score analysis. </a:t>
            </a:r>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37 </a:t>
            </a:r>
            <a:endParaRPr dirty="0"/>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345800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idx="4294967295"/>
          </p:nvPr>
        </p:nvSpPr>
        <p:spPr>
          <a:xfrm>
            <a:off x="2247900" y="1"/>
            <a:ext cx="6713221" cy="693418"/>
          </a:xfrm>
          <a:prstGeom prst="rect">
            <a:avLst/>
          </a:prstGeom>
        </p:spPr>
        <p:txBody>
          <a:bodyPr spcFirstLastPara="1" wrap="square" lIns="91425" tIns="91425" rIns="91425" bIns="91425" anchor="ctr" anchorCtr="0">
            <a:noAutofit/>
          </a:bodyPr>
          <a:lstStyle/>
          <a:p>
            <a:pPr algn="r"/>
            <a:r>
              <a:rPr lang="en-US" dirty="0">
                <a:solidFill>
                  <a:schemeClr val="accent5"/>
                </a:solidFill>
                <a:latin typeface="Times New Roman" panose="02020603050405020304" pitchFamily="18" charset="0"/>
                <a:cs typeface="Times New Roman" panose="02020603050405020304" pitchFamily="18" charset="0"/>
              </a:rPr>
              <a:t>Table 18: PTSD Remission Status by Group and Time </a:t>
            </a:r>
          </a:p>
        </p:txBody>
      </p:sp>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38 </a:t>
            </a:r>
            <a:endParaRPr dirty="0"/>
          </a:p>
        </p:txBody>
      </p:sp>
      <p:graphicFrame>
        <p:nvGraphicFramePr>
          <p:cNvPr id="12" name="Table 11">
            <a:extLst>
              <a:ext uri="{FF2B5EF4-FFF2-40B4-BE49-F238E27FC236}">
                <a16:creationId xmlns:a16="http://schemas.microsoft.com/office/drawing/2014/main" id="{D960BC58-F5B9-AD46-89C6-41A7DB2437A1}"/>
              </a:ext>
            </a:extLst>
          </p:cNvPr>
          <p:cNvGraphicFramePr>
            <a:graphicFrameLocks noGrp="1"/>
          </p:cNvGraphicFramePr>
          <p:nvPr>
            <p:extLst>
              <p:ext uri="{D42A27DB-BD31-4B8C-83A1-F6EECF244321}">
                <p14:modId xmlns:p14="http://schemas.microsoft.com/office/powerpoint/2010/main" val="3741330110"/>
              </p:ext>
            </p:extLst>
          </p:nvPr>
        </p:nvGraphicFramePr>
        <p:xfrm>
          <a:off x="436494" y="833685"/>
          <a:ext cx="8524627" cy="1066800"/>
        </p:xfrm>
        <a:graphic>
          <a:graphicData uri="http://schemas.openxmlformats.org/drawingml/2006/table">
            <a:tbl>
              <a:tblPr firstRow="1" firstCol="1" bandRow="1"/>
              <a:tblGrid>
                <a:gridCol w="1689581">
                  <a:extLst>
                    <a:ext uri="{9D8B030D-6E8A-4147-A177-3AD203B41FA5}">
                      <a16:colId xmlns:a16="http://schemas.microsoft.com/office/drawing/2014/main" val="1762099001"/>
                    </a:ext>
                  </a:extLst>
                </a:gridCol>
                <a:gridCol w="1577057">
                  <a:extLst>
                    <a:ext uri="{9D8B030D-6E8A-4147-A177-3AD203B41FA5}">
                      <a16:colId xmlns:a16="http://schemas.microsoft.com/office/drawing/2014/main" val="282608198"/>
                    </a:ext>
                  </a:extLst>
                </a:gridCol>
                <a:gridCol w="2397125">
                  <a:extLst>
                    <a:ext uri="{9D8B030D-6E8A-4147-A177-3AD203B41FA5}">
                      <a16:colId xmlns:a16="http://schemas.microsoft.com/office/drawing/2014/main" val="2481945979"/>
                    </a:ext>
                  </a:extLst>
                </a:gridCol>
                <a:gridCol w="2860864">
                  <a:extLst>
                    <a:ext uri="{9D8B030D-6E8A-4147-A177-3AD203B41FA5}">
                      <a16:colId xmlns:a16="http://schemas.microsoft.com/office/drawing/2014/main" val="618368668"/>
                    </a:ext>
                  </a:extLst>
                </a:gridCol>
              </a:tblGrid>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Time Point</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Group</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Remission n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No Remission n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0646422"/>
                  </a:ext>
                </a:extLst>
              </a:tr>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Midline</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56 (96.6%)</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2 (3.4%)</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19769275"/>
                  </a:ext>
                </a:extLst>
              </a:tr>
              <a:tr h="172720">
                <a:tc>
                  <a:txBody>
                    <a:bodyPr/>
                    <a:lstStyle/>
                    <a:p>
                      <a:pPr>
                        <a:lnSpc>
                          <a:spcPct val="100000"/>
                        </a:lnSpc>
                      </a:pPr>
                      <a:endParaRPr lang="en-US" sz="140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 (0.0%)</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58 (100.0%)</a:t>
                      </a:r>
                    </a:p>
                  </a:txBody>
                  <a:tcPr marL="68580" marR="68580" marT="0" marB="0">
                    <a:lnL>
                      <a:noFill/>
                    </a:lnL>
                    <a:lnR>
                      <a:noFill/>
                    </a:lnR>
                    <a:lnT>
                      <a:noFill/>
                    </a:lnT>
                    <a:lnB>
                      <a:noFill/>
                    </a:lnB>
                  </a:tcPr>
                </a:tc>
                <a:extLst>
                  <a:ext uri="{0D108BD9-81ED-4DB2-BD59-A6C34878D82A}">
                    <a16:rowId xmlns:a16="http://schemas.microsoft.com/office/drawing/2014/main" val="1208786678"/>
                  </a:ext>
                </a:extLst>
              </a:tr>
              <a:tr h="172720">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Endline</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Treatment</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51 (100.0%)</a:t>
                      </a:r>
                    </a:p>
                  </a:txBody>
                  <a:tcPr marL="68580" marR="68580" marT="0" marB="0">
                    <a:lnL>
                      <a:noFill/>
                    </a:lnL>
                    <a:lnR>
                      <a:noFill/>
                    </a:lnR>
                    <a:lnT>
                      <a:noFill/>
                    </a:lnT>
                    <a:lnB>
                      <a:noFill/>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0 (0.0%)</a:t>
                      </a:r>
                    </a:p>
                  </a:txBody>
                  <a:tcPr marL="68580" marR="68580" marT="0" marB="0">
                    <a:lnL>
                      <a:noFill/>
                    </a:lnL>
                    <a:lnR>
                      <a:noFill/>
                    </a:lnR>
                    <a:lnT>
                      <a:noFill/>
                    </a:lnT>
                    <a:lnB>
                      <a:noFill/>
                    </a:lnB>
                  </a:tcPr>
                </a:tc>
                <a:extLst>
                  <a:ext uri="{0D108BD9-81ED-4DB2-BD59-A6C34878D82A}">
                    <a16:rowId xmlns:a16="http://schemas.microsoft.com/office/drawing/2014/main" val="984842847"/>
                  </a:ext>
                </a:extLst>
              </a:tr>
              <a:tr h="172720">
                <a:tc>
                  <a:txBody>
                    <a:bodyPr/>
                    <a:lstStyle/>
                    <a:p>
                      <a:pPr>
                        <a:lnSpc>
                          <a:spcPct val="100000"/>
                        </a:lnSpc>
                      </a:pPr>
                      <a:endParaRPr lang="en-US" sz="1400" dirty="0">
                        <a:effectLst/>
                        <a:latin typeface="Calibri" panose="020F0502020204030204" pitchFamily="34" charset="0"/>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Control</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a:effectLst/>
                          <a:latin typeface="Times New Roman" panose="02020603050405020304" pitchFamily="18" charset="0"/>
                          <a:ea typeface="Calibri" panose="020F0502020204030204" pitchFamily="34" charset="0"/>
                          <a:cs typeface="Times New Roman" panose="02020603050405020304" pitchFamily="18" charset="0"/>
                        </a:rPr>
                        <a:t>3 (5.9%)</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48 (94.1%)</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8892329"/>
                  </a:ext>
                </a:extLst>
              </a:tr>
            </a:tbl>
          </a:graphicData>
        </a:graphic>
      </p:graphicFrame>
      <p:sp>
        <p:nvSpPr>
          <p:cNvPr id="13" name="Rectangle 12">
            <a:extLst>
              <a:ext uri="{FF2B5EF4-FFF2-40B4-BE49-F238E27FC236}">
                <a16:creationId xmlns:a16="http://schemas.microsoft.com/office/drawing/2014/main" id="{100B0869-0E91-124E-BA1B-227CE068CA07}"/>
              </a:ext>
            </a:extLst>
          </p:cNvPr>
          <p:cNvSpPr/>
          <p:nvPr/>
        </p:nvSpPr>
        <p:spPr>
          <a:xfrm>
            <a:off x="436494" y="2040751"/>
            <a:ext cx="8596765" cy="307777"/>
          </a:xfrm>
          <a:prstGeom prst="rect">
            <a:avLst/>
          </a:prstGeom>
        </p:spPr>
        <p:txBody>
          <a:bodyPr wrap="square">
            <a:spAutoFit/>
          </a:bodyPr>
          <a:lstStyle/>
          <a:p>
            <a:r>
              <a:rPr lang="en-US" i="1" dirty="0">
                <a:latin typeface="Times New Roman" panose="02020603050405020304" pitchFamily="18" charset="0"/>
                <a:ea typeface="Calibri" panose="020F0502020204030204" pitchFamily="34" charset="0"/>
                <a:cs typeface="Times New Roman" panose="02020603050405020304" pitchFamily="18" charset="0"/>
              </a:rPr>
              <a:t>Note.</a:t>
            </a:r>
            <a:r>
              <a:rPr lang="en-US" dirty="0">
                <a:latin typeface="Times New Roman" panose="02020603050405020304" pitchFamily="18" charset="0"/>
                <a:ea typeface="Calibri" panose="020F0502020204030204" pitchFamily="34" charset="0"/>
                <a:cs typeface="Times New Roman" panose="02020603050405020304" pitchFamily="18" charset="0"/>
              </a:rPr>
              <a:t> Remission is defined as at least a 10-point reduction in PCL-5 scores.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464C17F4-9E4E-4C47-9D30-55DE9E23E028}"/>
              </a:ext>
            </a:extLst>
          </p:cNvPr>
          <p:cNvSpPr/>
          <p:nvPr/>
        </p:nvSpPr>
        <p:spPr>
          <a:xfrm>
            <a:off x="436493" y="2607656"/>
            <a:ext cx="8524627" cy="1769715"/>
          </a:xfrm>
          <a:prstGeom prst="rect">
            <a:avLst/>
          </a:prstGeom>
        </p:spPr>
        <p:txBody>
          <a:bodyPr wrap="square">
            <a:spAutoFit/>
          </a:bodyPr>
          <a:lstStyle/>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At midline, 96.6% of the treatment group achieved remission, compared with none in the control group, </a:t>
            </a:r>
            <a:r>
              <a:rPr lang="el-GR" sz="1900" dirty="0">
                <a:solidFill>
                  <a:srgbClr val="263248"/>
                </a:solidFill>
                <a:latin typeface="Roboto Condensed Light"/>
                <a:ea typeface="Roboto Condensed Light"/>
                <a:sym typeface="Roboto Condensed Light"/>
              </a:rPr>
              <a:t>χ²(1, </a:t>
            </a:r>
            <a:r>
              <a:rPr lang="en-US" sz="1900" dirty="0">
                <a:solidFill>
                  <a:srgbClr val="263248"/>
                </a:solidFill>
                <a:latin typeface="Roboto Condensed Light"/>
                <a:ea typeface="Roboto Condensed Light"/>
                <a:sym typeface="Roboto Condensed Light"/>
              </a:rPr>
              <a:t>N = 116) = 108.27, </a:t>
            </a:r>
            <a:r>
              <a:rPr lang="en-US" sz="1900" i="1" dirty="0">
                <a:solidFill>
                  <a:srgbClr val="263248"/>
                </a:solidFill>
                <a:latin typeface="Roboto Condensed Light"/>
                <a:ea typeface="Roboto Condensed Light"/>
                <a:sym typeface="Roboto Condensed Light"/>
              </a:rPr>
              <a:t>c</a:t>
            </a:r>
            <a:r>
              <a:rPr lang="en-US" sz="1900" dirty="0">
                <a:solidFill>
                  <a:srgbClr val="263248"/>
                </a:solidFill>
                <a:latin typeface="Roboto Condensed Light"/>
                <a:ea typeface="Roboto Condensed Light"/>
                <a:sym typeface="Roboto Condensed Light"/>
              </a:rPr>
              <a:t> &lt; .001. </a:t>
            </a:r>
          </a:p>
          <a:p>
            <a:pPr marL="76200" lvl="0">
              <a:buClr>
                <a:srgbClr val="C7D3E6"/>
              </a:buClr>
              <a:buSzPts val="2400"/>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At </a:t>
            </a:r>
            <a:r>
              <a:rPr lang="en-US" sz="1900" dirty="0" err="1">
                <a:solidFill>
                  <a:srgbClr val="263248"/>
                </a:solidFill>
                <a:latin typeface="Roboto Condensed Light"/>
                <a:ea typeface="Roboto Condensed Light"/>
                <a:sym typeface="Roboto Condensed Light"/>
              </a:rPr>
              <a:t>endline</a:t>
            </a:r>
            <a:r>
              <a:rPr lang="en-US" sz="1900" dirty="0">
                <a:solidFill>
                  <a:srgbClr val="263248"/>
                </a:solidFill>
                <a:latin typeface="Roboto Condensed Light"/>
                <a:ea typeface="Roboto Condensed Light"/>
                <a:sym typeface="Roboto Condensed Light"/>
              </a:rPr>
              <a:t>, remission remained high in the treatment group (100%), while only 5.9% of the control group achieved remission, </a:t>
            </a:r>
            <a:r>
              <a:rPr lang="el-GR" sz="1900" dirty="0">
                <a:solidFill>
                  <a:srgbClr val="263248"/>
                </a:solidFill>
                <a:latin typeface="Roboto Condensed Light"/>
                <a:ea typeface="Roboto Condensed Light"/>
                <a:sym typeface="Roboto Condensed Light"/>
              </a:rPr>
              <a:t>χ²(1, </a:t>
            </a:r>
            <a:r>
              <a:rPr lang="en-US" sz="1900" dirty="0">
                <a:solidFill>
                  <a:srgbClr val="263248"/>
                </a:solidFill>
                <a:latin typeface="Roboto Condensed Light"/>
                <a:ea typeface="Roboto Condensed Light"/>
                <a:sym typeface="Roboto Condensed Light"/>
              </a:rPr>
              <a:t>N = 102) = 90.67, </a:t>
            </a:r>
            <a:r>
              <a:rPr lang="en-US" sz="1900" i="1" dirty="0">
                <a:solidFill>
                  <a:srgbClr val="263248"/>
                </a:solidFill>
                <a:latin typeface="Roboto Condensed Light"/>
                <a:ea typeface="Roboto Condensed Light"/>
                <a:sym typeface="Roboto Condensed Light"/>
              </a:rPr>
              <a:t>p</a:t>
            </a:r>
            <a:r>
              <a:rPr lang="en-US" sz="1900" dirty="0">
                <a:solidFill>
                  <a:srgbClr val="263248"/>
                </a:solidFill>
                <a:latin typeface="Roboto Condensed Light"/>
                <a:ea typeface="Roboto Condensed Light"/>
                <a:sym typeface="Roboto Condensed Light"/>
              </a:rPr>
              <a:t> &lt; .001.   </a:t>
            </a:r>
          </a:p>
          <a:p>
            <a:pPr marL="171450" lvl="0" indent="-171450"/>
            <a:endParaRPr lang="en-US" dirty="0"/>
          </a:p>
        </p:txBody>
      </p:sp>
    </p:spTree>
    <p:extLst>
      <p:ext uri="{BB962C8B-B14F-4D97-AF65-F5344CB8AC3E}">
        <p14:creationId xmlns:p14="http://schemas.microsoft.com/office/powerpoint/2010/main" val="19802524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Implications of the EMDR Effectiveness Results</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6200" lvl="0">
              <a:buClr>
                <a:srgbClr val="C7D3E6"/>
              </a:buClr>
              <a:buSzPts val="2400"/>
            </a:pPr>
            <a:r>
              <a:rPr lang="en-US" sz="1900" b="1" dirty="0">
                <a:solidFill>
                  <a:srgbClr val="263248"/>
                </a:solidFill>
                <a:latin typeface="Roboto Condensed Light"/>
                <a:ea typeface="Roboto Condensed Light"/>
                <a:sym typeface="Roboto Condensed Light"/>
              </a:rPr>
              <a:t>The immediate effects of EMDR intervention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EMDR produced substantial PTSD symptom relief after a short treatment period, suggesting it is a rapid-acting intervention suitable for high-stress occupational settings. </a:t>
            </a: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difference between groups was more than double the clinically meaningful change threshold, reinforcing EMDR’s potential as a primary treatment option in trauma-exposed healthcare populations. </a:t>
            </a:r>
          </a:p>
          <a:p>
            <a:pPr marL="76200" lvl="0">
              <a:buClr>
                <a:srgbClr val="C7D3E6"/>
              </a:buClr>
              <a:buSzPts val="2400"/>
            </a:pPr>
            <a:r>
              <a:rPr lang="en-US" sz="1900" b="1" dirty="0">
                <a:solidFill>
                  <a:srgbClr val="263248"/>
                </a:solidFill>
                <a:latin typeface="Roboto Condensed Light"/>
                <a:ea typeface="Roboto Condensed Light"/>
                <a:sym typeface="Roboto Condensed Light"/>
              </a:rPr>
              <a:t>The sustained effects of EMDR intervention </a:t>
            </a:r>
          </a:p>
          <a:p>
            <a:pPr marL="45720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EMDR effects persisted over a 3-month follow-up, indicating long-term durability of symptom relief without apparent relapse. </a:t>
            </a:r>
          </a:p>
          <a:p>
            <a:pPr marL="45720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The difference between groups far exceeded the clinically meaningful threshold, suggesting EMDR achieves both immediate and lasting remission in PTSD among ICU healthcare workers.  </a:t>
            </a:r>
          </a:p>
        </p:txBody>
      </p:sp>
    </p:spTree>
    <p:extLst>
      <p:ext uri="{BB962C8B-B14F-4D97-AF65-F5344CB8AC3E}">
        <p14:creationId xmlns:p14="http://schemas.microsoft.com/office/powerpoint/2010/main" val="38677586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 </a:t>
            </a:r>
            <a:endParaRPr dirty="0"/>
          </a:p>
        </p:txBody>
      </p:sp>
      <p:sp>
        <p:nvSpPr>
          <p:cNvPr id="222" name="Google Shape;222;p14"/>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US" sz="2400" dirty="0"/>
              <a:t>Overall Implications of the Study Findings</a:t>
            </a:r>
            <a:r>
              <a:rPr lang="en" sz="2400" dirty="0"/>
              <a:t> </a:t>
            </a:r>
            <a:endParaRPr sz="2400"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39 </a:t>
            </a:r>
            <a:endParaRPr dirty="0"/>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6</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27387375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6" name="Google Shape;216;p1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13 </a:t>
            </a:r>
            <a:endParaRPr dirty="0"/>
          </a:p>
        </p:txBody>
      </p:sp>
      <p:sp>
        <p:nvSpPr>
          <p:cNvPr id="7" name="Google Shape;213;p13">
            <a:extLst>
              <a:ext uri="{FF2B5EF4-FFF2-40B4-BE49-F238E27FC236}">
                <a16:creationId xmlns:a16="http://schemas.microsoft.com/office/drawing/2014/main" id="{5080DEC2-95B2-1E40-9D47-847724DACF4C}"/>
              </a:ext>
            </a:extLst>
          </p:cNvPr>
          <p:cNvSpPr txBox="1">
            <a:spLocks/>
          </p:cNvSpPr>
          <p:nvPr/>
        </p:nvSpPr>
        <p:spPr>
          <a:xfrm>
            <a:off x="2190750" y="1"/>
            <a:ext cx="6572249" cy="69341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r"/>
            <a:r>
              <a:rPr lang="en-US" dirty="0">
                <a:solidFill>
                  <a:schemeClr val="accent5"/>
                </a:solidFill>
                <a:latin typeface="Times New Roman" panose="02020603050405020304" pitchFamily="18" charset="0"/>
                <a:cs typeface="Times New Roman" panose="02020603050405020304" pitchFamily="18" charset="0"/>
              </a:rPr>
              <a:t>Key Takeaways </a:t>
            </a:r>
          </a:p>
        </p:txBody>
      </p:sp>
      <p:sp>
        <p:nvSpPr>
          <p:cNvPr id="6" name="Google Shape;237;p16">
            <a:extLst>
              <a:ext uri="{FF2B5EF4-FFF2-40B4-BE49-F238E27FC236}">
                <a16:creationId xmlns:a16="http://schemas.microsoft.com/office/drawing/2014/main" id="{8023696D-C977-2445-893A-AB3BFF3E9946}"/>
              </a:ext>
            </a:extLst>
          </p:cNvPr>
          <p:cNvSpPr txBox="1">
            <a:spLocks/>
          </p:cNvSpPr>
          <p:nvPr/>
        </p:nvSpPr>
        <p:spPr>
          <a:xfrm>
            <a:off x="0" y="959394"/>
            <a:ext cx="9105400" cy="4184107"/>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Frontline workers in high-stress environments face an urgent mental health burden as per the high PTSD prevalence among the ICU healthcare professionals.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r>
              <a:rPr lang="en-US" sz="1900" dirty="0">
                <a:solidFill>
                  <a:srgbClr val="263248"/>
                </a:solidFill>
                <a:latin typeface="Roboto Condensed Light"/>
                <a:ea typeface="Roboto Condensed Light"/>
                <a:sym typeface="Roboto Condensed Light"/>
              </a:rPr>
              <a:t> Occupational exposure and situational stressors may outweigh demographic influences in this population. </a:t>
            </a: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a:p>
            <a:pPr marL="457200" lvl="0" indent="-381000">
              <a:buClr>
                <a:srgbClr val="C7D3E6"/>
              </a:buClr>
              <a:buSzPts val="2400"/>
              <a:buFont typeface="Roboto Condensed Light"/>
              <a:buChar char="▰"/>
            </a:pPr>
            <a:endParaRPr lang="en-US" sz="1900" dirty="0">
              <a:solidFill>
                <a:srgbClr val="263248"/>
              </a:solidFill>
              <a:latin typeface="Roboto Condensed Light"/>
              <a:ea typeface="Roboto Condensed Light"/>
              <a:sym typeface="Roboto Condensed Light"/>
            </a:endParaRPr>
          </a:p>
        </p:txBody>
      </p:sp>
    </p:spTree>
    <p:extLst>
      <p:ext uri="{BB962C8B-B14F-4D97-AF65-F5344CB8AC3E}">
        <p14:creationId xmlns:p14="http://schemas.microsoft.com/office/powerpoint/2010/main" val="20343796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40 </a:t>
            </a:r>
            <a:endParaRPr dirty="0"/>
          </a:p>
        </p:txBody>
      </p:sp>
      <p:sp>
        <p:nvSpPr>
          <p:cNvPr id="524" name="Google Shape;524;p33"/>
          <p:cNvSpPr txBox="1">
            <a:spLocks noGrp="1"/>
          </p:cNvSpPr>
          <p:nvPr>
            <p:ph type="ctrTitle" idx="4294967295"/>
          </p:nvPr>
        </p:nvSpPr>
        <p:spPr>
          <a:xfrm>
            <a:off x="1275150" y="2364400"/>
            <a:ext cx="6593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solidFill>
                  <a:schemeClr val="accent5"/>
                </a:solidFill>
              </a:rPr>
              <a:t>THANKS!</a:t>
            </a:r>
            <a:endParaRPr sz="6000" dirty="0">
              <a:solidFill>
                <a:schemeClr val="accent5"/>
              </a:solidFil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4072</TotalTime>
  <Words>7533</Words>
  <Application>Microsoft Macintosh PowerPoint</Application>
  <PresentationFormat>On-screen Show (16:9)</PresentationFormat>
  <Paragraphs>1096</Paragraphs>
  <Slides>49</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Roboto Condensed Light</vt:lpstr>
      <vt:lpstr>Times New Roman</vt:lpstr>
      <vt:lpstr>Calibri</vt:lpstr>
      <vt:lpstr>Segoe UI Symbol</vt:lpstr>
      <vt:lpstr>Roboto Condensed</vt:lpstr>
      <vt:lpstr>Wingdings</vt:lpstr>
      <vt:lpstr>Arial</vt:lpstr>
      <vt:lpstr>Arvo</vt:lpstr>
      <vt:lpstr>Salerio template</vt:lpstr>
      <vt:lpstr>Statistical Findings Presentation: EMDR Therapy for PTSD Study    Presentation Developed for Academic Assessment and Findings Dissemination </vt:lpstr>
      <vt:lpstr>CONTEXT </vt:lpstr>
      <vt:lpstr>INTRODUCTION </vt:lpstr>
      <vt:lpstr>INTRODUCTION </vt:lpstr>
      <vt:lpstr>INTRODUCTION </vt:lpstr>
      <vt:lpstr>SOCIO-DEMOGRAPHIC PROFILING </vt:lpstr>
      <vt:lpstr>DESCRIPTIVE ANALYSIS  </vt:lpstr>
      <vt:lpstr>Table 1: Socio-Demographic Characteristics of Participants (N = 134) </vt:lpstr>
      <vt:lpstr>PowerPoint Presentation</vt:lpstr>
      <vt:lpstr>INFERENTIAL ANALYSIS  </vt:lpstr>
      <vt:lpstr>PowerPoint Presentation</vt:lpstr>
      <vt:lpstr>PowerPoint Presentation</vt:lpstr>
      <vt:lpstr>INFERENTIAL ANALYSIS  </vt:lpstr>
      <vt:lpstr>PowerPoint Presentation</vt:lpstr>
      <vt:lpstr>PowerPoint Presentation</vt:lpstr>
      <vt:lpstr>OBJECTIVE ONE</vt:lpstr>
      <vt:lpstr>DESCRIPTIVE ANALYSIS  </vt:lpstr>
      <vt:lpstr>INFERENTIAL ANALYSIS  </vt:lpstr>
      <vt:lpstr>PowerPoint Presentation</vt:lpstr>
      <vt:lpstr>PowerPoint Presentation</vt:lpstr>
      <vt:lpstr>OBJECTIVE TWO </vt:lpstr>
      <vt:lpstr>DESCRIPTIVE ANALYSIS  </vt:lpstr>
      <vt:lpstr>Table 6 : Descriptive Statistics of PTSD Symptom Severity by Socio-Demographic Characteristics at Baseline </vt:lpstr>
      <vt:lpstr>Table 6 : Descriptive Statistics of PTSD Symptom Severity by Socio-Demographic Characteristics at Baseline </vt:lpstr>
      <vt:lpstr>INFERENTIAL ANALYSIS  </vt:lpstr>
      <vt:lpstr>PowerPoint Presentation</vt:lpstr>
      <vt:lpstr>PowerPoint Presentation</vt:lpstr>
      <vt:lpstr>OBJECTIVE THREE  </vt:lpstr>
      <vt:lpstr>DESCRIPTIVE ANALYSIS  </vt:lpstr>
      <vt:lpstr>Table 9: Prevalence of Depression, Anxiety, and Burnout Among ICU Healthcare Professionals at Baseline (N = 134)</vt:lpstr>
      <vt:lpstr>INFERENTIAL ANALYSIS  </vt:lpstr>
      <vt:lpstr>Table 10: Associations Between PTSD Status and Depression, Anxiety, and Burnout at Baseline (N = 134)</vt:lpstr>
      <vt:lpstr>PowerPoint Presentation</vt:lpstr>
      <vt:lpstr>OBJECTIVE FOUR   </vt:lpstr>
      <vt:lpstr>DESCRIPTIVE ANALYSIS  </vt:lpstr>
      <vt:lpstr>Table 11: Means and Standard Deviations of PTSD Scores by Group and Time Point </vt:lpstr>
      <vt:lpstr>INFERENTIAL ANALYSIS  </vt:lpstr>
      <vt:lpstr>Table 12: Repeated Measures ANOVA for PTSD Scores </vt:lpstr>
      <vt:lpstr>INFERENTIAL ANALYSIS  </vt:lpstr>
      <vt:lpstr>Table 14: Adjusted Means and Standard Errors of PTSD Scores at Midline by Group </vt:lpstr>
      <vt:lpstr>INFERENTIAL ANALYSIS  </vt:lpstr>
      <vt:lpstr>Table 16: Adjusted Means and Standard Errors of PTSD Scores at Endline by Group </vt:lpstr>
      <vt:lpstr>DESCRIPTIVE ANALYSIS  </vt:lpstr>
      <vt:lpstr>DESCRIPTIVE &amp; INFERENTIALANALYSIS  </vt:lpstr>
      <vt:lpstr>Table 18: PTSD Remission Status by Group and Time </vt:lpstr>
      <vt:lpstr>PowerPoint Presentation</vt:lpstr>
      <vt:lpstr>CONCLUSION </vt:lpstr>
      <vt:lpstr>PowerPoint Presentation</vt:lpstr>
      <vt:lpstr>THANKS!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admin</cp:lastModifiedBy>
  <cp:revision>250</cp:revision>
  <dcterms:modified xsi:type="dcterms:W3CDTF">2026-05-03T20:42:15Z</dcterms:modified>
</cp:coreProperties>
</file>